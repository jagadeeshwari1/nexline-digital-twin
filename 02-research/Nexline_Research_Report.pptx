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8"/>
  </p:notesMasterIdLst>
  <p:sldIdLst>
    <p:sldId id="256" r:id="rId2"/>
    <p:sldId id="257" r:id="rId3"/>
    <p:sldId id="258" r:id="rId4"/>
    <p:sldId id="259" r:id="rId5"/>
    <p:sldId id="260" r:id="rId6"/>
    <p:sldId id="261" r:id="rId7"/>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09" d="100"/>
          <a:sy n="109" d="100"/>
        </p:scale>
        <p:origin x="706" y="8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44097081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hyperlink" Target="https://www.researchgate.net/publication/384028066_Digital_Twin-Enabled_Smart_Manufacturing_Challenges_and_Future_Directions" TargetMode="External"/><Relationship Id="rId7" Type="http://schemas.openxmlformats.org/officeDocument/2006/relationships/hyperlink" Target="https://www.iiot-world.com/predictive-analytics/predictive-maintenance/predictive-maintenance-cost-savings/" TargetMode="External"/><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hyperlink" Target="https://arxiv.org/pdf/2509.24443" TargetMode="External"/><Relationship Id="rId5" Type="http://schemas.openxmlformats.org/officeDocument/2006/relationships/hyperlink" Target="https://www.mdpi.com/1424-8220/26/1/124" TargetMode="External"/><Relationship Id="rId4" Type="http://schemas.openxmlformats.org/officeDocument/2006/relationships/hyperlink" Target="https://www.marketsandmarkets.com/Market-Reports/digital-twin-market-225269522.html" TargetMode="External"/></Relationships>
</file>

<file path=ppt/slides/_rels/slide3.xml.rels><?xml version="1.0" encoding="UTF-8" standalone="yes"?>
<Relationships xmlns="http://schemas.openxmlformats.org/package/2006/relationships"><Relationship Id="rId3" Type="http://schemas.openxmlformats.org/officeDocument/2006/relationships/hyperlink" Target="https://www.sciencedirect.com/science/article/pii/S2665917424005671" TargetMode="External"/><Relationship Id="rId7" Type="http://schemas.openxmlformats.org/officeDocument/2006/relationships/hyperlink" Target="https://www.linkedin.com/pulse/ai-predictive-maintenance-reducing-downtime-through-intelligent-ipaac" TargetMode="External"/><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hyperlink" Target="https://arxiv.org/pdf/2412.13939" TargetMode="External"/><Relationship Id="rId5" Type="http://schemas.openxmlformats.org/officeDocument/2006/relationships/hyperlink" Target="https://www.researchgate.net/publication/384538978_TOGAF's_Approach_in_Developing_an_Enterprise_Architecture_for_the_Information_Technology_Security_Industry" TargetMode="External"/><Relationship Id="rId4" Type="http://schemas.openxmlformats.org/officeDocument/2006/relationships/hyperlink" Target="https://thesciencebrigade.com/iotecj/article/view/543" TargetMode="External"/></Relationships>
</file>

<file path=ppt/slides/_rels/slide4.xml.rels><?xml version="1.0" encoding="UTF-8" standalone="yes"?>
<Relationships xmlns="http://schemas.openxmlformats.org/package/2006/relationships"><Relationship Id="rId3" Type="http://schemas.openxmlformats.org/officeDocument/2006/relationships/hyperlink" Target="https://www.mdpi.com/2624-831X/5/4/27" TargetMode="External"/><Relationship Id="rId7" Type="http://schemas.openxmlformats.org/officeDocument/2006/relationships/hyperlink" Target="https://ifactoryapp.com/blog/predictive-maintenance-2026-ai-factory-downtime" TargetMode="External"/><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hyperlink" Target="https://www.researchgate.net/publication/391429689_REAL-TIME_ENERGY_MONITORING_AND_OPTIMIZATION_IN_SMART_FACTORIES_USING_IOT_SENSORS" TargetMode="External"/><Relationship Id="rId5" Type="http://schemas.openxmlformats.org/officeDocument/2006/relationships/hyperlink" Target="https://emerald.com/insight/content/doi/10.1108/ijesm-12-2023-0017/full/html" TargetMode="External"/><Relationship Id="rId4" Type="http://schemas.openxmlformats.org/officeDocument/2006/relationships/hyperlink" Target="https://emerline.com/blog/digital-twins" TargetMode="Externa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F3A"/>
        </a:solidFill>
        <a:effectLst/>
      </p:bgPr>
    </p:bg>
    <p:spTree>
      <p:nvGrpSpPr>
        <p:cNvPr id="1" name=""/>
        <p:cNvGrpSpPr/>
        <p:nvPr/>
      </p:nvGrpSpPr>
      <p:grpSpPr>
        <a:xfrm>
          <a:off x="0" y="0"/>
          <a:ext cx="0" cy="0"/>
          <a:chOff x="0" y="0"/>
          <a:chExt cx="0" cy="0"/>
        </a:xfrm>
      </p:grpSpPr>
      <p:sp>
        <p:nvSpPr>
          <p:cNvPr id="2" name="Shape 0"/>
          <p:cNvSpPr/>
          <p:nvPr/>
        </p:nvSpPr>
        <p:spPr>
          <a:xfrm>
            <a:off x="0" y="0"/>
            <a:ext cx="228600" cy="5143500"/>
          </a:xfrm>
          <a:prstGeom prst="rect">
            <a:avLst/>
          </a:prstGeom>
          <a:solidFill>
            <a:srgbClr val="028090"/>
          </a:solidFill>
          <a:ln w="12700">
            <a:solidFill>
              <a:srgbClr val="028090"/>
            </a:solidFill>
            <a:prstDash val="solid"/>
          </a:ln>
        </p:spPr>
        <p:txBody>
          <a:bodyPr/>
          <a:lstStyle/>
          <a:p>
            <a:endParaRPr lang="en-US"/>
          </a:p>
        </p:txBody>
      </p:sp>
      <p:sp>
        <p:nvSpPr>
          <p:cNvPr id="3" name="Shape 1"/>
          <p:cNvSpPr/>
          <p:nvPr/>
        </p:nvSpPr>
        <p:spPr>
          <a:xfrm>
            <a:off x="228600" y="0"/>
            <a:ext cx="109728" cy="5143500"/>
          </a:xfrm>
          <a:prstGeom prst="rect">
            <a:avLst/>
          </a:prstGeom>
          <a:solidFill>
            <a:srgbClr val="02C39A"/>
          </a:solidFill>
          <a:ln w="12700">
            <a:solidFill>
              <a:srgbClr val="02C39A"/>
            </a:solidFill>
            <a:prstDash val="solid"/>
          </a:ln>
        </p:spPr>
        <p:txBody>
          <a:bodyPr/>
          <a:lstStyle/>
          <a:p>
            <a:endParaRPr lang="en-US"/>
          </a:p>
        </p:txBody>
      </p:sp>
      <p:sp>
        <p:nvSpPr>
          <p:cNvPr id="4" name="Shape 2"/>
          <p:cNvSpPr/>
          <p:nvPr/>
        </p:nvSpPr>
        <p:spPr>
          <a:xfrm>
            <a:off x="5943600" y="0"/>
            <a:ext cx="3200400" cy="5143500"/>
          </a:xfrm>
          <a:prstGeom prst="rect">
            <a:avLst/>
          </a:prstGeom>
          <a:solidFill>
            <a:srgbClr val="0D2B47"/>
          </a:solidFill>
          <a:ln w="12700">
            <a:solidFill>
              <a:srgbClr val="0D2B47"/>
            </a:solidFill>
            <a:prstDash val="solid"/>
          </a:ln>
        </p:spPr>
        <p:txBody>
          <a:bodyPr/>
          <a:lstStyle/>
          <a:p>
            <a:endParaRPr lang="en-US"/>
          </a:p>
        </p:txBody>
      </p:sp>
      <p:sp>
        <p:nvSpPr>
          <p:cNvPr id="5" name="Text 3"/>
          <p:cNvSpPr/>
          <p:nvPr/>
        </p:nvSpPr>
        <p:spPr>
          <a:xfrm>
            <a:off x="731520" y="822960"/>
            <a:ext cx="5029200" cy="457200"/>
          </a:xfrm>
          <a:prstGeom prst="rect">
            <a:avLst/>
          </a:prstGeom>
          <a:noFill/>
          <a:ln/>
        </p:spPr>
        <p:txBody>
          <a:bodyPr wrap="square" lIns="0" tIns="0" rIns="0" bIns="0" rtlCol="0" anchor="ctr"/>
          <a:lstStyle/>
          <a:p>
            <a:pPr marL="0" indent="0" algn="l">
              <a:buNone/>
            </a:pPr>
            <a:r>
              <a:rPr lang="en-US" sz="1100" b="1" kern="0" spc="500" dirty="0">
                <a:solidFill>
                  <a:srgbClr val="02C39A"/>
                </a:solidFill>
              </a:rPr>
              <a:t>RESEARCH REPORT</a:t>
            </a:r>
            <a:endParaRPr lang="en-US" sz="1100" dirty="0"/>
          </a:p>
        </p:txBody>
      </p:sp>
      <p:sp>
        <p:nvSpPr>
          <p:cNvPr id="6" name="Text 4"/>
          <p:cNvSpPr/>
          <p:nvPr/>
        </p:nvSpPr>
        <p:spPr>
          <a:xfrm>
            <a:off x="731520" y="1325880"/>
            <a:ext cx="5120640" cy="1645920"/>
          </a:xfrm>
          <a:prstGeom prst="rect">
            <a:avLst/>
          </a:prstGeom>
          <a:noFill/>
          <a:ln/>
        </p:spPr>
        <p:txBody>
          <a:bodyPr wrap="square" lIns="0" tIns="0" rIns="0" bIns="0" rtlCol="0" anchor="t"/>
          <a:lstStyle/>
          <a:p>
            <a:pPr marL="0" indent="0" algn="l">
              <a:buNone/>
            </a:pPr>
            <a:r>
              <a:rPr lang="en-US" sz="3400" b="1" dirty="0">
                <a:solidFill>
                  <a:srgbClr val="FFFFFF"/>
                </a:solidFill>
              </a:rPr>
              <a:t>Digital Twin for</a:t>
            </a:r>
            <a:endParaRPr lang="en-US" sz="3400" dirty="0"/>
          </a:p>
          <a:p>
            <a:pPr marL="0" indent="0" algn="l">
              <a:buNone/>
            </a:pPr>
            <a:r>
              <a:rPr lang="en-US" sz="3400" b="1" dirty="0">
                <a:solidFill>
                  <a:srgbClr val="FFFFFF"/>
                </a:solidFill>
              </a:rPr>
              <a:t>Smart Manufacturing</a:t>
            </a:r>
            <a:endParaRPr lang="en-US" sz="3400" dirty="0"/>
          </a:p>
        </p:txBody>
      </p:sp>
      <p:sp>
        <p:nvSpPr>
          <p:cNvPr id="7" name="Shape 5"/>
          <p:cNvSpPr/>
          <p:nvPr/>
        </p:nvSpPr>
        <p:spPr>
          <a:xfrm>
            <a:off x="731520" y="3017520"/>
            <a:ext cx="4754880" cy="36576"/>
          </a:xfrm>
          <a:prstGeom prst="rect">
            <a:avLst/>
          </a:prstGeom>
          <a:solidFill>
            <a:srgbClr val="028090"/>
          </a:solidFill>
          <a:ln w="12700">
            <a:solidFill>
              <a:srgbClr val="028090"/>
            </a:solidFill>
            <a:prstDash val="solid"/>
          </a:ln>
        </p:spPr>
        <p:txBody>
          <a:bodyPr/>
          <a:lstStyle/>
          <a:p>
            <a:endParaRPr lang="en-US"/>
          </a:p>
        </p:txBody>
      </p:sp>
      <p:sp>
        <p:nvSpPr>
          <p:cNvPr id="8" name="Text 6"/>
          <p:cNvSpPr/>
          <p:nvPr/>
        </p:nvSpPr>
        <p:spPr>
          <a:xfrm>
            <a:off x="731520" y="3127248"/>
            <a:ext cx="5029200" cy="320040"/>
          </a:xfrm>
          <a:prstGeom prst="rect">
            <a:avLst/>
          </a:prstGeom>
          <a:noFill/>
          <a:ln/>
        </p:spPr>
        <p:txBody>
          <a:bodyPr wrap="square" lIns="0" tIns="0" rIns="0" bIns="0" rtlCol="0" anchor="ctr"/>
          <a:lstStyle/>
          <a:p>
            <a:pPr marL="0" indent="0" algn="l">
              <a:buNone/>
            </a:pPr>
            <a:r>
              <a:rPr lang="en-US" sz="1200" dirty="0">
                <a:solidFill>
                  <a:srgbClr val="00A896"/>
                </a:solidFill>
              </a:rPr>
              <a:t>Nexline Manufacturing – Operational Optimization Project</a:t>
            </a:r>
            <a:endParaRPr lang="en-US" sz="1200" dirty="0"/>
          </a:p>
        </p:txBody>
      </p:sp>
      <p:sp>
        <p:nvSpPr>
          <p:cNvPr id="9" name="Text 7"/>
          <p:cNvSpPr/>
          <p:nvPr/>
        </p:nvSpPr>
        <p:spPr>
          <a:xfrm>
            <a:off x="731520" y="3474720"/>
            <a:ext cx="5029200" cy="274320"/>
          </a:xfrm>
          <a:prstGeom prst="rect">
            <a:avLst/>
          </a:prstGeom>
          <a:noFill/>
          <a:ln/>
        </p:spPr>
        <p:txBody>
          <a:bodyPr wrap="square" lIns="0" tIns="0" rIns="0" bIns="0" rtlCol="0" anchor="ctr"/>
          <a:lstStyle/>
          <a:p>
            <a:pPr marL="0" indent="0" algn="l">
              <a:buNone/>
            </a:pPr>
            <a:endParaRPr lang="en-US" sz="1000" dirty="0">
              <a:solidFill>
                <a:srgbClr val="9ECDD6"/>
              </a:solidFill>
            </a:endParaRPr>
          </a:p>
        </p:txBody>
      </p:sp>
      <p:sp>
        <p:nvSpPr>
          <p:cNvPr id="10" name="Text 8"/>
          <p:cNvSpPr/>
          <p:nvPr/>
        </p:nvSpPr>
        <p:spPr>
          <a:xfrm>
            <a:off x="731520" y="4663440"/>
            <a:ext cx="1828800" cy="274320"/>
          </a:xfrm>
          <a:prstGeom prst="rect">
            <a:avLst/>
          </a:prstGeom>
          <a:noFill/>
          <a:ln/>
        </p:spPr>
        <p:txBody>
          <a:bodyPr wrap="square" lIns="0" tIns="0" rIns="0" bIns="0" rtlCol="0" anchor="ctr"/>
          <a:lstStyle/>
          <a:p>
            <a:pPr marL="0" indent="0" algn="l">
              <a:buNone/>
            </a:pPr>
            <a:r>
              <a:rPr lang="en-US" sz="900" dirty="0">
                <a:solidFill>
                  <a:srgbClr val="7BA7B3"/>
                </a:solidFill>
              </a:rPr>
              <a:t>June 2026</a:t>
            </a:r>
            <a:endParaRPr lang="en-US" sz="900" dirty="0"/>
          </a:p>
        </p:txBody>
      </p:sp>
      <p:sp>
        <p:nvSpPr>
          <p:cNvPr id="11" name="Text 9"/>
          <p:cNvSpPr/>
          <p:nvPr/>
        </p:nvSpPr>
        <p:spPr>
          <a:xfrm>
            <a:off x="6217920" y="1828800"/>
            <a:ext cx="2560320" cy="2286000"/>
          </a:xfrm>
          <a:prstGeom prst="rect">
            <a:avLst/>
          </a:prstGeom>
          <a:noFill/>
          <a:ln/>
        </p:spPr>
        <p:txBody>
          <a:bodyPr wrap="square" lIns="0" tIns="0" rIns="0" bIns="0" rtlCol="0" anchor="t"/>
          <a:lstStyle/>
          <a:p>
            <a:pPr marL="0" indent="0" algn="l">
              <a:lnSpc>
                <a:spcPct val="160000"/>
              </a:lnSpc>
              <a:buNone/>
            </a:pPr>
            <a:r>
              <a:rPr lang="en-US" sz="1200" b="1" dirty="0">
                <a:solidFill>
                  <a:srgbClr val="02C39A"/>
                </a:solidFill>
              </a:rPr>
              <a:t>IoT Sensors
Predictive Analytics
Digital Twin Architecture
Real-Time Dashboards
Energy Optimization</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0B1F3A"/>
          </a:solidFill>
          <a:ln w="12700">
            <a:solidFill>
              <a:srgbClr val="0B1F3A"/>
            </a:solidFill>
            <a:prstDash val="solid"/>
          </a:ln>
        </p:spPr>
        <p:txBody>
          <a:bodyPr/>
          <a:lstStyle/>
          <a:p>
            <a:endParaRPr lang="en-US"/>
          </a:p>
        </p:txBody>
      </p:sp>
      <p:sp>
        <p:nvSpPr>
          <p:cNvPr id="3" name="Shape 1"/>
          <p:cNvSpPr/>
          <p:nvPr/>
        </p:nvSpPr>
        <p:spPr>
          <a:xfrm>
            <a:off x="0" y="685800"/>
            <a:ext cx="9144000" cy="73152"/>
          </a:xfrm>
          <a:prstGeom prst="rect">
            <a:avLst/>
          </a:prstGeom>
          <a:solidFill>
            <a:srgbClr val="028090"/>
          </a:solidFill>
          <a:ln w="12700">
            <a:solidFill>
              <a:srgbClr val="028090"/>
            </a:solidFill>
            <a:prstDash val="solid"/>
          </a:ln>
        </p:spPr>
        <p:txBody>
          <a:bodyPr/>
          <a:lstStyle/>
          <a:p>
            <a:endParaRPr lang="en-US"/>
          </a:p>
        </p:txBody>
      </p:sp>
      <p:sp>
        <p:nvSpPr>
          <p:cNvPr id="4" name="Shape 2"/>
          <p:cNvSpPr/>
          <p:nvPr/>
        </p:nvSpPr>
        <p:spPr>
          <a:xfrm>
            <a:off x="320040" y="109728"/>
            <a:ext cx="2103120" cy="384048"/>
          </a:xfrm>
          <a:prstGeom prst="roundRect">
            <a:avLst>
              <a:gd name="adj" fmla="val 19048"/>
            </a:avLst>
          </a:prstGeom>
          <a:solidFill>
            <a:srgbClr val="028090"/>
          </a:solidFill>
          <a:ln w="12700">
            <a:solidFill>
              <a:srgbClr val="028090"/>
            </a:solidFill>
            <a:prstDash val="solid"/>
          </a:ln>
        </p:spPr>
        <p:txBody>
          <a:bodyPr/>
          <a:lstStyle/>
          <a:p>
            <a:endParaRPr lang="en-US"/>
          </a:p>
        </p:txBody>
      </p:sp>
      <p:sp>
        <p:nvSpPr>
          <p:cNvPr id="5" name="Text 3"/>
          <p:cNvSpPr/>
          <p:nvPr/>
        </p:nvSpPr>
        <p:spPr>
          <a:xfrm>
            <a:off x="320040" y="109728"/>
            <a:ext cx="2103120" cy="384048"/>
          </a:xfrm>
          <a:prstGeom prst="rect">
            <a:avLst/>
          </a:prstGeom>
          <a:noFill/>
          <a:ln/>
        </p:spPr>
        <p:txBody>
          <a:bodyPr wrap="square" lIns="0" tIns="0" rIns="0" bIns="0" rtlCol="0" anchor="ctr"/>
          <a:lstStyle/>
          <a:p>
            <a:pPr marL="0" indent="0" algn="ctr">
              <a:buNone/>
            </a:pPr>
            <a:r>
              <a:rPr lang="en-US" sz="900" b="1" dirty="0">
                <a:solidFill>
                  <a:srgbClr val="FFFFFF"/>
                </a:solidFill>
              </a:rPr>
              <a:t>RESEARCH SUMMARY</a:t>
            </a:r>
            <a:endParaRPr lang="en-US" sz="900" dirty="0"/>
          </a:p>
        </p:txBody>
      </p:sp>
      <p:sp>
        <p:nvSpPr>
          <p:cNvPr id="6" name="Text 4"/>
          <p:cNvSpPr/>
          <p:nvPr/>
        </p:nvSpPr>
        <p:spPr>
          <a:xfrm>
            <a:off x="2651760" y="82296"/>
            <a:ext cx="6217920" cy="502920"/>
          </a:xfrm>
          <a:prstGeom prst="rect">
            <a:avLst/>
          </a:prstGeom>
          <a:noFill/>
          <a:ln/>
        </p:spPr>
        <p:txBody>
          <a:bodyPr wrap="square" lIns="0" tIns="0" rIns="0" bIns="0" rtlCol="0" anchor="ctr"/>
          <a:lstStyle/>
          <a:p>
            <a:pPr marL="0" indent="0" algn="l">
              <a:buNone/>
            </a:pPr>
            <a:r>
              <a:rPr lang="en-US" sz="1600" b="1" dirty="0">
                <a:solidFill>
                  <a:srgbClr val="FFFFFF"/>
                </a:solidFill>
              </a:rPr>
              <a:t>Research Summary Table – Sources 1–5</a:t>
            </a:r>
            <a:endParaRPr lang="en-US" sz="1600" dirty="0"/>
          </a:p>
        </p:txBody>
      </p:sp>
      <p:sp>
        <p:nvSpPr>
          <p:cNvPr id="7" name="Text 5"/>
          <p:cNvSpPr/>
          <p:nvPr/>
        </p:nvSpPr>
        <p:spPr>
          <a:xfrm>
            <a:off x="320040" y="758952"/>
            <a:ext cx="8503920" cy="228600"/>
          </a:xfrm>
          <a:prstGeom prst="rect">
            <a:avLst/>
          </a:prstGeom>
          <a:noFill/>
          <a:ln/>
        </p:spPr>
        <p:txBody>
          <a:bodyPr wrap="square" lIns="0" tIns="0" rIns="0" bIns="0" rtlCol="0" anchor="ctr"/>
          <a:lstStyle/>
          <a:p>
            <a:pPr marL="0" indent="0" algn="l">
              <a:buNone/>
            </a:pPr>
            <a:r>
              <a:rPr lang="en-US" sz="850" i="1" dirty="0">
                <a:solidFill>
                  <a:srgbClr val="028090"/>
                </a:solidFill>
              </a:rPr>
              <a:t>Digital Twin, Predictive Maintenance &amp; Industry 4.0</a:t>
            </a:r>
            <a:endParaRPr lang="en-US" sz="850" dirty="0"/>
          </a:p>
        </p:txBody>
      </p:sp>
      <p:sp>
        <p:nvSpPr>
          <p:cNvPr id="8" name="Shape 6"/>
          <p:cNvSpPr/>
          <p:nvPr/>
        </p:nvSpPr>
        <p:spPr>
          <a:xfrm>
            <a:off x="0" y="4919472"/>
            <a:ext cx="9144000" cy="224028"/>
          </a:xfrm>
          <a:prstGeom prst="rect">
            <a:avLst/>
          </a:prstGeom>
          <a:solidFill>
            <a:srgbClr val="0B1F3A"/>
          </a:solidFill>
          <a:ln w="12700">
            <a:solidFill>
              <a:srgbClr val="0B1F3A"/>
            </a:solidFill>
            <a:prstDash val="solid"/>
          </a:ln>
        </p:spPr>
        <p:txBody>
          <a:bodyPr/>
          <a:lstStyle/>
          <a:p>
            <a:endParaRPr lang="en-US"/>
          </a:p>
        </p:txBody>
      </p:sp>
      <p:sp>
        <p:nvSpPr>
          <p:cNvPr id="9" name="Text 7"/>
          <p:cNvSpPr/>
          <p:nvPr/>
        </p:nvSpPr>
        <p:spPr>
          <a:xfrm>
            <a:off x="274320" y="4919472"/>
            <a:ext cx="7315200" cy="224028"/>
          </a:xfrm>
          <a:prstGeom prst="rect">
            <a:avLst/>
          </a:prstGeom>
          <a:noFill/>
          <a:ln/>
        </p:spPr>
        <p:txBody>
          <a:bodyPr wrap="square" lIns="0" tIns="0" rIns="0" bIns="0" rtlCol="0" anchor="ctr"/>
          <a:lstStyle/>
          <a:p>
            <a:pPr marL="0" indent="0" algn="l">
              <a:buNone/>
            </a:pPr>
            <a:r>
              <a:rPr lang="en-US" sz="700" dirty="0">
                <a:solidFill>
                  <a:srgbClr val="FFFFFF"/>
                </a:solidFill>
              </a:rPr>
              <a:t>Nexline Manufacturing – Operational Optimization Project | Confidential</a:t>
            </a:r>
            <a:endParaRPr lang="en-US" sz="700" dirty="0"/>
          </a:p>
        </p:txBody>
      </p:sp>
      <p:sp>
        <p:nvSpPr>
          <p:cNvPr id="10" name="Text 8"/>
          <p:cNvSpPr/>
          <p:nvPr/>
        </p:nvSpPr>
        <p:spPr>
          <a:xfrm>
            <a:off x="8229600" y="4919472"/>
            <a:ext cx="640080" cy="224028"/>
          </a:xfrm>
          <a:prstGeom prst="rect">
            <a:avLst/>
          </a:prstGeom>
          <a:noFill/>
          <a:ln/>
        </p:spPr>
        <p:txBody>
          <a:bodyPr wrap="square" lIns="0" tIns="0" rIns="0" bIns="0" rtlCol="0" anchor="ctr"/>
          <a:lstStyle/>
          <a:p>
            <a:pPr marL="0" indent="0" algn="r">
              <a:buNone/>
            </a:pPr>
            <a:r>
              <a:rPr lang="en-US" sz="700" dirty="0">
                <a:solidFill>
                  <a:srgbClr val="FFFFFF"/>
                </a:solidFill>
              </a:rPr>
              <a:t>2</a:t>
            </a:r>
            <a:endParaRPr lang="en-US" sz="7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182880" y="1051560"/>
          <a:ext cx="8778240" cy="4023360"/>
        </p:xfrm>
        <a:graphic>
          <a:graphicData uri="http://schemas.openxmlformats.org/drawingml/2006/table">
            <a:tbl>
              <a:tblPr/>
              <a:tblGrid>
                <a:gridCol w="274320">
                  <a:extLst>
                    <a:ext uri="{9D8B030D-6E8A-4147-A177-3AD203B41FA5}">
                      <a16:colId xmlns:a16="http://schemas.microsoft.com/office/drawing/2014/main" val="20000"/>
                    </a:ext>
                  </a:extLst>
                </a:gridCol>
                <a:gridCol w="1645920">
                  <a:extLst>
                    <a:ext uri="{9D8B030D-6E8A-4147-A177-3AD203B41FA5}">
                      <a16:colId xmlns:a16="http://schemas.microsoft.com/office/drawing/2014/main" val="20001"/>
                    </a:ext>
                  </a:extLst>
                </a:gridCol>
                <a:gridCol w="1234440">
                  <a:extLst>
                    <a:ext uri="{9D8B030D-6E8A-4147-A177-3AD203B41FA5}">
                      <a16:colId xmlns:a16="http://schemas.microsoft.com/office/drawing/2014/main" val="20002"/>
                    </a:ext>
                  </a:extLst>
                </a:gridCol>
                <a:gridCol w="1234440">
                  <a:extLst>
                    <a:ext uri="{9D8B030D-6E8A-4147-A177-3AD203B41FA5}">
                      <a16:colId xmlns:a16="http://schemas.microsoft.com/office/drawing/2014/main" val="20003"/>
                    </a:ext>
                  </a:extLst>
                </a:gridCol>
                <a:gridCol w="1508760">
                  <a:extLst>
                    <a:ext uri="{9D8B030D-6E8A-4147-A177-3AD203B41FA5}">
                      <a16:colId xmlns:a16="http://schemas.microsoft.com/office/drawing/2014/main" val="20004"/>
                    </a:ext>
                  </a:extLst>
                </a:gridCol>
                <a:gridCol w="1234440">
                  <a:extLst>
                    <a:ext uri="{9D8B030D-6E8A-4147-A177-3AD203B41FA5}">
                      <a16:colId xmlns:a16="http://schemas.microsoft.com/office/drawing/2014/main" val="20005"/>
                    </a:ext>
                  </a:extLst>
                </a:gridCol>
                <a:gridCol w="1645920">
                  <a:extLst>
                    <a:ext uri="{9D8B030D-6E8A-4147-A177-3AD203B41FA5}">
                      <a16:colId xmlns:a16="http://schemas.microsoft.com/office/drawing/2014/main" val="20006"/>
                    </a:ext>
                  </a:extLst>
                </a:gridCol>
              </a:tblGrid>
              <a:tr h="658368">
                <a:tc>
                  <a:txBody>
                    <a:bodyPr/>
                    <a:lstStyle/>
                    <a:p>
                      <a:pPr marL="0" indent="0" algn="ctr">
                        <a:buNone/>
                      </a:pPr>
                      <a:r>
                        <a:rPr lang="en-US" sz="800" b="1" dirty="0">
                          <a:solidFill>
                            <a:srgbClr val="FFFFFF"/>
                          </a:solidFill>
                        </a:rPr>
                        <a:t>No.</a:t>
                      </a:r>
                      <a:endParaRPr lang="en-US" sz="8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B1F3A"/>
                    </a:solidFill>
                  </a:tcPr>
                </a:tc>
                <a:tc>
                  <a:txBody>
                    <a:bodyPr/>
                    <a:lstStyle/>
                    <a:p>
                      <a:pPr marL="0" indent="0">
                        <a:buNone/>
                      </a:pPr>
                      <a:r>
                        <a:rPr lang="en-US" sz="800" b="1" dirty="0">
                          <a:solidFill>
                            <a:srgbClr val="FFFFFF"/>
                          </a:solidFill>
                        </a:rPr>
                        <a:t>STUDY / SOURCE</a:t>
                      </a:r>
                      <a:endParaRPr lang="en-US" sz="800" dirty="0"/>
                    </a:p>
                    <a:p>
                      <a:pPr marL="0" indent="0">
                        <a:buNone/>
                      </a:pPr>
                      <a:r>
                        <a:rPr lang="en-US" sz="800" b="1" dirty="0">
                          <a:solidFill>
                            <a:srgbClr val="FFFFFF"/>
                          </a:solidFill>
                        </a:rPr>
                        <a:t>(Title + Link)</a:t>
                      </a:r>
                      <a:endParaRPr lang="en-US" sz="8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B1F3A"/>
                    </a:solidFill>
                  </a:tcPr>
                </a:tc>
                <a:tc>
                  <a:txBody>
                    <a:bodyPr/>
                    <a:lstStyle/>
                    <a:p>
                      <a:pPr marL="0" indent="0">
                        <a:buNone/>
                      </a:pPr>
                      <a:r>
                        <a:rPr lang="en-US" sz="800" b="1" dirty="0">
                          <a:solidFill>
                            <a:srgbClr val="FFFFFF"/>
                          </a:solidFill>
                        </a:rPr>
                        <a:t>FOCUS / CONTRIBUTION</a:t>
                      </a:r>
                      <a:endParaRPr lang="en-US" sz="8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B1F3A"/>
                    </a:solidFill>
                  </a:tcPr>
                </a:tc>
                <a:tc>
                  <a:txBody>
                    <a:bodyPr/>
                    <a:lstStyle/>
                    <a:p>
                      <a:pPr marL="0" indent="0">
                        <a:buNone/>
                      </a:pPr>
                      <a:r>
                        <a:rPr lang="en-US" sz="800" b="1" dirty="0">
                          <a:solidFill>
                            <a:srgbClr val="FFFFFF"/>
                          </a:solidFill>
                        </a:rPr>
                        <a:t>TECHNOLOGY / SYSTEMS MENTIONED</a:t>
                      </a:r>
                      <a:endParaRPr lang="en-US" sz="8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B1F3A"/>
                    </a:solidFill>
                  </a:tcPr>
                </a:tc>
                <a:tc>
                  <a:txBody>
                    <a:bodyPr/>
                    <a:lstStyle/>
                    <a:p>
                      <a:pPr marL="0" indent="0">
                        <a:buNone/>
                      </a:pPr>
                      <a:r>
                        <a:rPr lang="en-US" sz="800" b="1" dirty="0">
                          <a:solidFill>
                            <a:srgbClr val="FFFFFF"/>
                          </a:solidFill>
                        </a:rPr>
                        <a:t>KEY FINDINGS / INSIGHTS</a:t>
                      </a:r>
                      <a:endParaRPr lang="en-US" sz="8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B1F3A"/>
                    </a:solidFill>
                  </a:tcPr>
                </a:tc>
                <a:tc>
                  <a:txBody>
                    <a:bodyPr/>
                    <a:lstStyle/>
                    <a:p>
                      <a:pPr marL="0" indent="0">
                        <a:buNone/>
                      </a:pPr>
                      <a:r>
                        <a:rPr lang="en-US" sz="800" b="1" dirty="0">
                          <a:solidFill>
                            <a:srgbClr val="FFFFFF"/>
                          </a:solidFill>
                        </a:rPr>
                        <a:t>CHALLENGES / LIMITATIONS</a:t>
                      </a:r>
                      <a:endParaRPr lang="en-US" sz="8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B1F3A"/>
                    </a:solidFill>
                  </a:tcPr>
                </a:tc>
                <a:tc>
                  <a:txBody>
                    <a:bodyPr/>
                    <a:lstStyle/>
                    <a:p>
                      <a:pPr marL="0" indent="0">
                        <a:buNone/>
                      </a:pPr>
                      <a:r>
                        <a:rPr lang="en-US" sz="800" b="1" dirty="0">
                          <a:solidFill>
                            <a:srgbClr val="FFFFFF"/>
                          </a:solidFill>
                        </a:rPr>
                        <a:t>RELEVANCE TO MY PROBLEM</a:t>
                      </a:r>
                      <a:endParaRPr lang="en-US" sz="8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B1F3A"/>
                    </a:solidFill>
                  </a:tcPr>
                </a:tc>
                <a:extLst>
                  <a:ext uri="{0D108BD9-81ED-4DB2-BD59-A6C34878D82A}">
                    <a16:rowId xmlns:a16="http://schemas.microsoft.com/office/drawing/2014/main" val="10000"/>
                  </a:ext>
                </a:extLst>
              </a:tr>
              <a:tr h="658368">
                <a:tc>
                  <a:txBody>
                    <a:bodyPr/>
                    <a:lstStyle/>
                    <a:p>
                      <a:pPr marL="0" indent="0" algn="ctr">
                        <a:buNone/>
                      </a:pPr>
                      <a:r>
                        <a:rPr lang="en-US" sz="700" b="1" dirty="0">
                          <a:solidFill>
                            <a:srgbClr val="028090"/>
                          </a:solidFill>
                        </a:rPr>
                        <a:t>1</a:t>
                      </a:r>
                      <a:endParaRPr lang="en-US" sz="7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700" u="sng" dirty="0">
                          <a:solidFill>
                            <a:srgbClr val="1D4ED8"/>
                          </a:solidFill>
                          <a:hlinkClick r:id="rId3">
                            <a:extLst>
                              <a:ext uri="{A12FA001-AC4F-418D-AE19-62706E023703}">
                                <ahyp:hlinkClr xmlns:ahyp="http://schemas.microsoft.com/office/drawing/2018/hyperlinkcolor" val="tx"/>
                              </a:ext>
                            </a:extLst>
                          </a:hlinkClick>
                        </a:rPr>
                        <a:t>Digital Twin-Enabled Smart Manufacturing: Challenges and Future Directions</a:t>
                      </a:r>
                      <a:endParaRPr lang="en-US" sz="700" dirty="0"/>
                    </a:p>
                    <a:p>
                      <a:pPr marL="0" indent="0">
                        <a:buNone/>
                      </a:pPr>
                      <a:r>
                        <a:rPr lang="en-US" sz="700" u="sng" dirty="0">
                          <a:solidFill>
                            <a:srgbClr val="1D4ED8"/>
                          </a:solidFill>
                          <a:hlinkClick r:id="rId3">
                            <a:extLst>
                              <a:ext uri="{A12FA001-AC4F-418D-AE19-62706E023703}">
                                <ahyp:hlinkClr xmlns:ahyp="http://schemas.microsoft.com/office/drawing/2018/hyperlinkcolor" val="tx"/>
                              </a:ext>
                            </a:extLst>
                          </a:hlinkClick>
                        </a:rPr>
                        <a:t>researchgate.net/publication/384028066</a:t>
                      </a:r>
                      <a:endParaRPr lang="en-US" sz="7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700" dirty="0"/>
                        <a:t>Reviews DT-enabled frameworks for fault detection and maintenance decision-making</a:t>
                      </a: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700" dirty="0"/>
                        <a:t>Digital Twins, ML models, IoT sensors, real-time monitoring</a:t>
                      </a: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700" dirty="0"/>
                        <a:t>DT-enabled structures increase process efficiency by 20%+ and improve decision accuracy through active model recalibration</a:t>
                      </a: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700" dirty="0"/>
                        <a:t>Requires high-fidelity data; model recalibration adds complexity</a:t>
                      </a: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700" dirty="0"/>
                        <a:t>Directly maps to Nexline's need to connect CNC and robotic machines with a virtual simulation layer</a:t>
                      </a: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1"/>
                  </a:ext>
                </a:extLst>
              </a:tr>
              <a:tr h="658368">
                <a:tc>
                  <a:txBody>
                    <a:bodyPr/>
                    <a:lstStyle/>
                    <a:p>
                      <a:pPr marL="0" indent="0" algn="ctr">
                        <a:buNone/>
                      </a:pPr>
                      <a:r>
                        <a:rPr lang="en-US" sz="700" b="1" dirty="0">
                          <a:solidFill>
                            <a:srgbClr val="028090"/>
                          </a:solidFill>
                        </a:rPr>
                        <a:t>2</a:t>
                      </a:r>
                      <a:endParaRPr lang="en-US" sz="7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AF4F6"/>
                    </a:solidFill>
                  </a:tcPr>
                </a:tc>
                <a:tc>
                  <a:txBody>
                    <a:bodyPr/>
                    <a:lstStyle/>
                    <a:p>
                      <a:pPr marL="0" indent="0">
                        <a:buNone/>
                      </a:pPr>
                      <a:r>
                        <a:rPr lang="en-US" sz="700" u="sng" dirty="0">
                          <a:solidFill>
                            <a:srgbClr val="1D4ED8"/>
                          </a:solidFill>
                          <a:hlinkClick r:id="rId4">
                            <a:extLst>
                              <a:ext uri="{A12FA001-AC4F-418D-AE19-62706E023703}">
                                <ahyp:hlinkClr xmlns:ahyp="http://schemas.microsoft.com/office/drawing/2018/hyperlinkcolor" val="tx"/>
                              </a:ext>
                            </a:extLst>
                          </a:hlinkClick>
                        </a:rPr>
                        <a:t>Digital Twin Market Report 2025–2030 – MarketsandMarkets</a:t>
                      </a:r>
                      <a:endParaRPr lang="en-US" sz="700" dirty="0"/>
                    </a:p>
                    <a:p>
                      <a:pPr marL="0" indent="0">
                        <a:buNone/>
                      </a:pPr>
                      <a:r>
                        <a:rPr lang="en-US" sz="700" u="sng" dirty="0">
                          <a:solidFill>
                            <a:srgbClr val="1D4ED8"/>
                          </a:solidFill>
                          <a:hlinkClick r:id="rId4">
                            <a:extLst>
                              <a:ext uri="{A12FA001-AC4F-418D-AE19-62706E023703}">
                                <ahyp:hlinkClr xmlns:ahyp="http://schemas.microsoft.com/office/drawing/2018/hyperlinkcolor" val="tx"/>
                              </a:ext>
                            </a:extLst>
                          </a:hlinkClick>
                        </a:rPr>
                        <a:t>marketsandmarkets.com/Market-Reports/digital-twin-market-225269522.html</a:t>
                      </a:r>
                      <a:endParaRPr lang="en-US" sz="7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AF4F6"/>
                    </a:solidFill>
                  </a:tcPr>
                </a:tc>
                <a:tc>
                  <a:txBody>
                    <a:bodyPr/>
                    <a:lstStyle/>
                    <a:p>
                      <a:pPr marL="0" indent="0">
                        <a:buNone/>
                      </a:pPr>
                      <a:r>
                        <a:rPr lang="en-US" sz="700" dirty="0"/>
                        <a:t>Global market sizing, growth drivers, and sector adoption of Digital Twin technology</a:t>
                      </a: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AF4F6"/>
                    </a:solidFill>
                  </a:tcPr>
                </a:tc>
                <a:tc>
                  <a:txBody>
                    <a:bodyPr/>
                    <a:lstStyle/>
                    <a:p>
                      <a:pPr marL="0" indent="0">
                        <a:buNone/>
                      </a:pPr>
                      <a:r>
                        <a:rPr lang="en-US" sz="700" dirty="0"/>
                        <a:t>IoT, cloud computing, AI analytics, Siemens Xcelerator platform</a:t>
                      </a: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AF4F6"/>
                    </a:solidFill>
                  </a:tcPr>
                </a:tc>
                <a:tc>
                  <a:txBody>
                    <a:bodyPr/>
                    <a:lstStyle/>
                    <a:p>
                      <a:pPr marL="0" indent="0">
                        <a:buNone/>
                      </a:pPr>
                      <a:r>
                        <a:rPr lang="en-US" sz="700" dirty="0"/>
                        <a:t>Market grows from $21.14B (2025) to $149.81B (2030) at 47.9% CAGR; aerospace &amp; automotive are primary adopters</a:t>
                      </a: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AF4F6"/>
                    </a:solidFill>
                  </a:tcPr>
                </a:tc>
                <a:tc>
                  <a:txBody>
                    <a:bodyPr/>
                    <a:lstStyle/>
                    <a:p>
                      <a:pPr marL="0" indent="0">
                        <a:buNone/>
                      </a:pPr>
                      <a:r>
                        <a:rPr lang="en-US" sz="700" dirty="0"/>
                        <a:t>High implementation cost; integration with legacy OT systems remains difficult</a:t>
                      </a: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AF4F6"/>
                    </a:solidFill>
                  </a:tcPr>
                </a:tc>
                <a:tc>
                  <a:txBody>
                    <a:bodyPr/>
                    <a:lstStyle/>
                    <a:p>
                      <a:pPr marL="0" indent="0">
                        <a:buNone/>
                      </a:pPr>
                      <a:r>
                        <a:rPr lang="en-US" sz="700" dirty="0"/>
                        <a:t>Confirms strategic timing for Nexline; validates investment in DT for aerospace/automotive component manufacturing</a:t>
                      </a: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AF4F6"/>
                    </a:solidFill>
                  </a:tcPr>
                </a:tc>
                <a:extLst>
                  <a:ext uri="{0D108BD9-81ED-4DB2-BD59-A6C34878D82A}">
                    <a16:rowId xmlns:a16="http://schemas.microsoft.com/office/drawing/2014/main" val="10002"/>
                  </a:ext>
                </a:extLst>
              </a:tr>
              <a:tr h="658368">
                <a:tc>
                  <a:txBody>
                    <a:bodyPr/>
                    <a:lstStyle/>
                    <a:p>
                      <a:pPr marL="0" indent="0" algn="ctr">
                        <a:buNone/>
                      </a:pPr>
                      <a:r>
                        <a:rPr lang="en-US" sz="700" b="1" dirty="0">
                          <a:solidFill>
                            <a:srgbClr val="028090"/>
                          </a:solidFill>
                        </a:rPr>
                        <a:t>3</a:t>
                      </a:r>
                      <a:endParaRPr lang="en-US" sz="7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700" u="sng" dirty="0">
                          <a:solidFill>
                            <a:srgbClr val="1D4ED8"/>
                          </a:solidFill>
                          <a:hlinkClick r:id="rId5">
                            <a:extLst>
                              <a:ext uri="{A12FA001-AC4F-418D-AE19-62706E023703}">
                                <ahyp:hlinkClr xmlns:ahyp="http://schemas.microsoft.com/office/drawing/2018/hyperlinkcolor" val="tx"/>
                              </a:ext>
                            </a:extLst>
                          </a:hlinkClick>
                        </a:rPr>
                        <a:t>AI-Driven Digital Twins for Manufacturing – MDPI Sensors</a:t>
                      </a:r>
                      <a:endParaRPr lang="en-US" sz="700" dirty="0"/>
                    </a:p>
                    <a:p>
                      <a:pPr marL="0" indent="0">
                        <a:buNone/>
                      </a:pPr>
                      <a:r>
                        <a:rPr lang="en-US" sz="700" u="sng" dirty="0">
                          <a:solidFill>
                            <a:srgbClr val="1D4ED8"/>
                          </a:solidFill>
                          <a:hlinkClick r:id="rId5">
                            <a:extLst>
                              <a:ext uri="{A12FA001-AC4F-418D-AE19-62706E023703}">
                                <ahyp:hlinkClr xmlns:ahyp="http://schemas.microsoft.com/office/drawing/2018/hyperlinkcolor" val="tx"/>
                              </a:ext>
                            </a:extLst>
                          </a:hlinkClick>
                        </a:rPr>
                        <a:t>mdpi.com/1424-8220/26/1/124</a:t>
                      </a:r>
                      <a:endParaRPr lang="en-US" sz="7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700" dirty="0"/>
                        <a:t>Reviews AI-integrated DT applications across hierarchical manufacturing levels</a:t>
                      </a: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700" dirty="0"/>
                        <a:t>Deep reinforcement learning, CNNs, CNC machining, robotics, industrial printing</a:t>
                      </a: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700" dirty="0"/>
                        <a:t>DTs with AI enable real-time monitoring, predictive analytics, and autonomous decision-making across industrial domains</a:t>
                      </a: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700" dirty="0"/>
                        <a:t>AI model drift over time; dependency on high-quality labeled training data</a:t>
                      </a: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700" dirty="0"/>
                        <a:t>Supports Nexline's predictive modeler role in building ML-based failure forecasting for CNC and robotic arms</a:t>
                      </a: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3"/>
                  </a:ext>
                </a:extLst>
              </a:tr>
              <a:tr h="658368">
                <a:tc>
                  <a:txBody>
                    <a:bodyPr/>
                    <a:lstStyle/>
                    <a:p>
                      <a:pPr marL="0" indent="0" algn="ctr">
                        <a:buNone/>
                      </a:pPr>
                      <a:r>
                        <a:rPr lang="en-US" sz="700" b="1" dirty="0">
                          <a:solidFill>
                            <a:srgbClr val="028090"/>
                          </a:solidFill>
                        </a:rPr>
                        <a:t>4</a:t>
                      </a:r>
                      <a:endParaRPr lang="en-US" sz="7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AF4F6"/>
                    </a:solidFill>
                  </a:tcPr>
                </a:tc>
                <a:tc>
                  <a:txBody>
                    <a:bodyPr/>
                    <a:lstStyle/>
                    <a:p>
                      <a:pPr marL="0" indent="0">
                        <a:buNone/>
                      </a:pPr>
                      <a:r>
                        <a:rPr lang="en-US" sz="700" u="sng" dirty="0">
                          <a:solidFill>
                            <a:srgbClr val="1D4ED8"/>
                          </a:solidFill>
                          <a:hlinkClick r:id="rId6">
                            <a:extLst>
                              <a:ext uri="{A12FA001-AC4F-418D-AE19-62706E023703}">
                                <ahyp:hlinkClr xmlns:ahyp="http://schemas.microsoft.com/office/drawing/2018/hyperlinkcolor" val="tx"/>
                              </a:ext>
                            </a:extLst>
                          </a:hlinkClick>
                        </a:rPr>
                        <a:t>Systematic Review: Digital Twin-Driven Predictive Maintenance – IEEE / arXiv</a:t>
                      </a:r>
                      <a:endParaRPr lang="en-US" sz="700" dirty="0"/>
                    </a:p>
                    <a:p>
                      <a:pPr marL="0" indent="0">
                        <a:buNone/>
                      </a:pPr>
                      <a:r>
                        <a:rPr lang="en-US" sz="700" u="sng" dirty="0">
                          <a:solidFill>
                            <a:srgbClr val="1D4ED8"/>
                          </a:solidFill>
                          <a:hlinkClick r:id="rId6">
                            <a:extLst>
                              <a:ext uri="{A12FA001-AC4F-418D-AE19-62706E023703}">
                                <ahyp:hlinkClr xmlns:ahyp="http://schemas.microsoft.com/office/drawing/2018/hyperlinkcolor" val="tx"/>
                              </a:ext>
                            </a:extLst>
                          </a:hlinkClick>
                        </a:rPr>
                        <a:t>arxiv.org/pdf/2509.24443</a:t>
                      </a:r>
                      <a:endParaRPr lang="en-US" sz="7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AF4F6"/>
                    </a:solidFill>
                  </a:tcPr>
                </a:tc>
                <a:tc>
                  <a:txBody>
                    <a:bodyPr/>
                    <a:lstStyle/>
                    <a:p>
                      <a:pPr marL="0" indent="0">
                        <a:buNone/>
                      </a:pPr>
                      <a:r>
                        <a:rPr lang="en-US" sz="700" dirty="0"/>
                        <a:t>Taxonomy and architectural elements for DT-driven predictive maintenance systems</a:t>
                      </a: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AF4F6"/>
                    </a:solidFill>
                  </a:tcPr>
                </a:tc>
                <a:tc>
                  <a:txBody>
                    <a:bodyPr/>
                    <a:lstStyle/>
                    <a:p>
                      <a:pPr marL="0" indent="0">
                        <a:buNone/>
                      </a:pPr>
                      <a:r>
                        <a:rPr lang="en-US" sz="700" dirty="0"/>
                        <a:t>IIoT, physics-based models, degradation curves, OPC UA, industrial robotics</a:t>
                      </a: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AF4F6"/>
                    </a:solidFill>
                  </a:tcPr>
                </a:tc>
                <a:tc>
                  <a:txBody>
                    <a:bodyPr/>
                    <a:lstStyle/>
                    <a:p>
                      <a:pPr marL="0" indent="0">
                        <a:buNone/>
                      </a:pPr>
                      <a:r>
                        <a:rPr lang="en-US" sz="700" dirty="0"/>
                        <a:t>Identifies degradation curve integration and physics-based modeling as key enablers for predicting robot and machine failure</a:t>
                      </a: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AF4F6"/>
                    </a:solidFill>
                  </a:tcPr>
                </a:tc>
                <a:tc>
                  <a:txBody>
                    <a:bodyPr/>
                    <a:lstStyle/>
                    <a:p>
                      <a:pPr marL="0" indent="0">
                        <a:buNone/>
                      </a:pPr>
                      <a:r>
                        <a:rPr lang="en-US" sz="700" dirty="0"/>
                        <a:t>Computational cost of physics-based models is high; real-time synchronization challenging</a:t>
                      </a: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AF4F6"/>
                    </a:solidFill>
                  </a:tcPr>
                </a:tc>
                <a:tc>
                  <a:txBody>
                    <a:bodyPr/>
                    <a:lstStyle/>
                    <a:p>
                      <a:pPr marL="0" indent="0">
                        <a:buNone/>
                      </a:pPr>
                      <a:r>
                        <a:rPr lang="en-US" sz="700" dirty="0"/>
                        <a:t>Informs sensor mapping and simulation architecture for Nexline's vibration and temperature monitoring</a:t>
                      </a: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AF4F6"/>
                    </a:solidFill>
                  </a:tcPr>
                </a:tc>
                <a:extLst>
                  <a:ext uri="{0D108BD9-81ED-4DB2-BD59-A6C34878D82A}">
                    <a16:rowId xmlns:a16="http://schemas.microsoft.com/office/drawing/2014/main" val="10004"/>
                  </a:ext>
                </a:extLst>
              </a:tr>
              <a:tr h="658368">
                <a:tc>
                  <a:txBody>
                    <a:bodyPr/>
                    <a:lstStyle/>
                    <a:p>
                      <a:pPr marL="0" indent="0" algn="ctr">
                        <a:buNone/>
                      </a:pPr>
                      <a:r>
                        <a:rPr lang="en-US" sz="700" b="1" dirty="0">
                          <a:solidFill>
                            <a:srgbClr val="028090"/>
                          </a:solidFill>
                        </a:rPr>
                        <a:t>5</a:t>
                      </a:r>
                      <a:endParaRPr lang="en-US" sz="7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700" u="sng" dirty="0">
                          <a:solidFill>
                            <a:srgbClr val="1D4ED8"/>
                          </a:solidFill>
                          <a:hlinkClick r:id="rId7">
                            <a:extLst>
                              <a:ext uri="{A12FA001-AC4F-418D-AE19-62706E023703}">
                                <ahyp:hlinkClr xmlns:ahyp="http://schemas.microsoft.com/office/drawing/2018/hyperlinkcolor" val="tx"/>
                              </a:ext>
                            </a:extLst>
                          </a:hlinkClick>
                        </a:rPr>
                        <a:t>Predictive Maintenance Cost Savings – IIoT World (McKinsey data)</a:t>
                      </a:r>
                      <a:endParaRPr lang="en-US" sz="700" dirty="0"/>
                    </a:p>
                    <a:p>
                      <a:pPr marL="0" indent="0">
                        <a:buNone/>
                      </a:pPr>
                      <a:r>
                        <a:rPr lang="en-US" sz="700" u="sng" dirty="0">
                          <a:solidFill>
                            <a:srgbClr val="1D4ED8"/>
                          </a:solidFill>
                          <a:hlinkClick r:id="rId7">
                            <a:extLst>
                              <a:ext uri="{A12FA001-AC4F-418D-AE19-62706E023703}">
                                <ahyp:hlinkClr xmlns:ahyp="http://schemas.microsoft.com/office/drawing/2018/hyperlinkcolor" val="tx"/>
                              </a:ext>
                            </a:extLst>
                          </a:hlinkClick>
                        </a:rPr>
                        <a:t>iiot-world.com/predictive-analytics/predictive-maintenance/predictive-maintenance-cost-savings/</a:t>
                      </a:r>
                      <a:endParaRPr lang="en-US" sz="7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700" dirty="0"/>
                        <a:t>Industry case studies documenting financial ROI of predictive maintenance programs</a:t>
                      </a: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700" dirty="0"/>
                        <a:t>AI sensors, vibration monitoring, thermal imaging, ML anomaly detection</a:t>
                      </a: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700" dirty="0"/>
                        <a:t>McKinsey: PdM reduces maintenance costs by 18–25% and unplanned downtime by up to 50%; steel plant saved $1.5M in year one</a:t>
                      </a: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700" dirty="0"/>
                        <a:t>Benefits depend on sensor data quality and baseline measurement availability</a:t>
                      </a: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700" dirty="0"/>
                        <a:t>Quantifies the business case for Nexline's shift from reactive to predictive maintenance across production lines</a:t>
                      </a: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0B1F3A"/>
          </a:solidFill>
          <a:ln w="12700">
            <a:solidFill>
              <a:srgbClr val="0B1F3A"/>
            </a:solidFill>
            <a:prstDash val="solid"/>
          </a:ln>
        </p:spPr>
        <p:txBody>
          <a:bodyPr/>
          <a:lstStyle/>
          <a:p>
            <a:endParaRPr lang="en-US"/>
          </a:p>
        </p:txBody>
      </p:sp>
      <p:sp>
        <p:nvSpPr>
          <p:cNvPr id="3" name="Shape 1"/>
          <p:cNvSpPr/>
          <p:nvPr/>
        </p:nvSpPr>
        <p:spPr>
          <a:xfrm>
            <a:off x="0" y="685800"/>
            <a:ext cx="9144000" cy="73152"/>
          </a:xfrm>
          <a:prstGeom prst="rect">
            <a:avLst/>
          </a:prstGeom>
          <a:solidFill>
            <a:srgbClr val="028090"/>
          </a:solidFill>
          <a:ln w="12700">
            <a:solidFill>
              <a:srgbClr val="028090"/>
            </a:solidFill>
            <a:prstDash val="solid"/>
          </a:ln>
        </p:spPr>
        <p:txBody>
          <a:bodyPr/>
          <a:lstStyle/>
          <a:p>
            <a:endParaRPr lang="en-US"/>
          </a:p>
        </p:txBody>
      </p:sp>
      <p:sp>
        <p:nvSpPr>
          <p:cNvPr id="4" name="Shape 2"/>
          <p:cNvSpPr/>
          <p:nvPr/>
        </p:nvSpPr>
        <p:spPr>
          <a:xfrm>
            <a:off x="320040" y="109728"/>
            <a:ext cx="2103120" cy="384048"/>
          </a:xfrm>
          <a:prstGeom prst="roundRect">
            <a:avLst>
              <a:gd name="adj" fmla="val 19048"/>
            </a:avLst>
          </a:prstGeom>
          <a:solidFill>
            <a:srgbClr val="028090"/>
          </a:solidFill>
          <a:ln w="12700">
            <a:solidFill>
              <a:srgbClr val="028090"/>
            </a:solidFill>
            <a:prstDash val="solid"/>
          </a:ln>
        </p:spPr>
        <p:txBody>
          <a:bodyPr/>
          <a:lstStyle/>
          <a:p>
            <a:endParaRPr lang="en-US"/>
          </a:p>
        </p:txBody>
      </p:sp>
      <p:sp>
        <p:nvSpPr>
          <p:cNvPr id="5" name="Text 3"/>
          <p:cNvSpPr/>
          <p:nvPr/>
        </p:nvSpPr>
        <p:spPr>
          <a:xfrm>
            <a:off x="320040" y="109728"/>
            <a:ext cx="2103120" cy="384048"/>
          </a:xfrm>
          <a:prstGeom prst="rect">
            <a:avLst/>
          </a:prstGeom>
          <a:noFill/>
          <a:ln/>
        </p:spPr>
        <p:txBody>
          <a:bodyPr wrap="square" lIns="0" tIns="0" rIns="0" bIns="0" rtlCol="0" anchor="ctr"/>
          <a:lstStyle/>
          <a:p>
            <a:pPr marL="0" indent="0" algn="ctr">
              <a:buNone/>
            </a:pPr>
            <a:r>
              <a:rPr lang="en-US" sz="900" b="1" dirty="0">
                <a:solidFill>
                  <a:srgbClr val="FFFFFF"/>
                </a:solidFill>
              </a:rPr>
              <a:t>RESEARCH SUMMARY</a:t>
            </a:r>
            <a:endParaRPr lang="en-US" sz="900" dirty="0"/>
          </a:p>
        </p:txBody>
      </p:sp>
      <p:sp>
        <p:nvSpPr>
          <p:cNvPr id="6" name="Text 4"/>
          <p:cNvSpPr/>
          <p:nvPr/>
        </p:nvSpPr>
        <p:spPr>
          <a:xfrm>
            <a:off x="2651760" y="82296"/>
            <a:ext cx="6217920" cy="502920"/>
          </a:xfrm>
          <a:prstGeom prst="rect">
            <a:avLst/>
          </a:prstGeom>
          <a:noFill/>
          <a:ln/>
        </p:spPr>
        <p:txBody>
          <a:bodyPr wrap="square" lIns="0" tIns="0" rIns="0" bIns="0" rtlCol="0" anchor="ctr"/>
          <a:lstStyle/>
          <a:p>
            <a:pPr marL="0" indent="0" algn="l">
              <a:buNone/>
            </a:pPr>
            <a:r>
              <a:rPr lang="en-US" sz="1600" b="1" dirty="0">
                <a:solidFill>
                  <a:srgbClr val="FFFFFF"/>
                </a:solidFill>
              </a:rPr>
              <a:t>Research Summary Table – Sources 6–10</a:t>
            </a:r>
            <a:endParaRPr lang="en-US" sz="1600" dirty="0"/>
          </a:p>
        </p:txBody>
      </p:sp>
      <p:sp>
        <p:nvSpPr>
          <p:cNvPr id="7" name="Text 5"/>
          <p:cNvSpPr/>
          <p:nvPr/>
        </p:nvSpPr>
        <p:spPr>
          <a:xfrm>
            <a:off x="320040" y="758952"/>
            <a:ext cx="8503920" cy="228600"/>
          </a:xfrm>
          <a:prstGeom prst="rect">
            <a:avLst/>
          </a:prstGeom>
          <a:noFill/>
          <a:ln/>
        </p:spPr>
        <p:txBody>
          <a:bodyPr wrap="square" lIns="0" tIns="0" rIns="0" bIns="0" rtlCol="0" anchor="ctr"/>
          <a:lstStyle/>
          <a:p>
            <a:pPr marL="0" indent="0" algn="l">
              <a:buNone/>
            </a:pPr>
            <a:r>
              <a:rPr lang="en-US" sz="850" i="1" dirty="0">
                <a:solidFill>
                  <a:srgbClr val="028090"/>
                </a:solidFill>
              </a:rPr>
              <a:t>Energy Monitoring, TOGAF Architecture &amp; Cybersecurity</a:t>
            </a:r>
            <a:endParaRPr lang="en-US" sz="850" dirty="0"/>
          </a:p>
        </p:txBody>
      </p:sp>
      <p:sp>
        <p:nvSpPr>
          <p:cNvPr id="8" name="Shape 6"/>
          <p:cNvSpPr/>
          <p:nvPr/>
        </p:nvSpPr>
        <p:spPr>
          <a:xfrm>
            <a:off x="0" y="4919472"/>
            <a:ext cx="9144000" cy="224028"/>
          </a:xfrm>
          <a:prstGeom prst="rect">
            <a:avLst/>
          </a:prstGeom>
          <a:solidFill>
            <a:srgbClr val="0B1F3A"/>
          </a:solidFill>
          <a:ln w="12700">
            <a:solidFill>
              <a:srgbClr val="0B1F3A"/>
            </a:solidFill>
            <a:prstDash val="solid"/>
          </a:ln>
        </p:spPr>
        <p:txBody>
          <a:bodyPr/>
          <a:lstStyle/>
          <a:p>
            <a:endParaRPr lang="en-US"/>
          </a:p>
        </p:txBody>
      </p:sp>
      <p:sp>
        <p:nvSpPr>
          <p:cNvPr id="9" name="Text 7"/>
          <p:cNvSpPr/>
          <p:nvPr/>
        </p:nvSpPr>
        <p:spPr>
          <a:xfrm>
            <a:off x="274320" y="4919472"/>
            <a:ext cx="7315200" cy="224028"/>
          </a:xfrm>
          <a:prstGeom prst="rect">
            <a:avLst/>
          </a:prstGeom>
          <a:noFill/>
          <a:ln/>
        </p:spPr>
        <p:txBody>
          <a:bodyPr wrap="square" lIns="0" tIns="0" rIns="0" bIns="0" rtlCol="0" anchor="ctr"/>
          <a:lstStyle/>
          <a:p>
            <a:pPr marL="0" indent="0" algn="l">
              <a:buNone/>
            </a:pPr>
            <a:r>
              <a:rPr lang="en-US" sz="700" dirty="0">
                <a:solidFill>
                  <a:srgbClr val="FFFFFF"/>
                </a:solidFill>
              </a:rPr>
              <a:t>Nexline Manufacturing – Operational Optimization Project | Confidential</a:t>
            </a:r>
            <a:endParaRPr lang="en-US" sz="700" dirty="0"/>
          </a:p>
        </p:txBody>
      </p:sp>
      <p:sp>
        <p:nvSpPr>
          <p:cNvPr id="10" name="Text 8"/>
          <p:cNvSpPr/>
          <p:nvPr/>
        </p:nvSpPr>
        <p:spPr>
          <a:xfrm>
            <a:off x="8229600" y="4919472"/>
            <a:ext cx="640080" cy="224028"/>
          </a:xfrm>
          <a:prstGeom prst="rect">
            <a:avLst/>
          </a:prstGeom>
          <a:noFill/>
          <a:ln/>
        </p:spPr>
        <p:txBody>
          <a:bodyPr wrap="square" lIns="0" tIns="0" rIns="0" bIns="0" rtlCol="0" anchor="ctr"/>
          <a:lstStyle/>
          <a:p>
            <a:pPr marL="0" indent="0" algn="r">
              <a:buNone/>
            </a:pPr>
            <a:r>
              <a:rPr lang="en-US" sz="700" dirty="0">
                <a:solidFill>
                  <a:srgbClr val="FFFFFF"/>
                </a:solidFill>
              </a:rPr>
              <a:t>3</a:t>
            </a:r>
            <a:endParaRPr lang="en-US" sz="7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182880" y="1051560"/>
          <a:ext cx="8778240" cy="3950208"/>
        </p:xfrm>
        <a:graphic>
          <a:graphicData uri="http://schemas.openxmlformats.org/drawingml/2006/table">
            <a:tbl>
              <a:tblPr/>
              <a:tblGrid>
                <a:gridCol w="274320">
                  <a:extLst>
                    <a:ext uri="{9D8B030D-6E8A-4147-A177-3AD203B41FA5}">
                      <a16:colId xmlns:a16="http://schemas.microsoft.com/office/drawing/2014/main" val="20000"/>
                    </a:ext>
                  </a:extLst>
                </a:gridCol>
                <a:gridCol w="1645920">
                  <a:extLst>
                    <a:ext uri="{9D8B030D-6E8A-4147-A177-3AD203B41FA5}">
                      <a16:colId xmlns:a16="http://schemas.microsoft.com/office/drawing/2014/main" val="20001"/>
                    </a:ext>
                  </a:extLst>
                </a:gridCol>
                <a:gridCol w="1234440">
                  <a:extLst>
                    <a:ext uri="{9D8B030D-6E8A-4147-A177-3AD203B41FA5}">
                      <a16:colId xmlns:a16="http://schemas.microsoft.com/office/drawing/2014/main" val="20002"/>
                    </a:ext>
                  </a:extLst>
                </a:gridCol>
                <a:gridCol w="1234440">
                  <a:extLst>
                    <a:ext uri="{9D8B030D-6E8A-4147-A177-3AD203B41FA5}">
                      <a16:colId xmlns:a16="http://schemas.microsoft.com/office/drawing/2014/main" val="20003"/>
                    </a:ext>
                  </a:extLst>
                </a:gridCol>
                <a:gridCol w="1508760">
                  <a:extLst>
                    <a:ext uri="{9D8B030D-6E8A-4147-A177-3AD203B41FA5}">
                      <a16:colId xmlns:a16="http://schemas.microsoft.com/office/drawing/2014/main" val="20004"/>
                    </a:ext>
                  </a:extLst>
                </a:gridCol>
                <a:gridCol w="1234440">
                  <a:extLst>
                    <a:ext uri="{9D8B030D-6E8A-4147-A177-3AD203B41FA5}">
                      <a16:colId xmlns:a16="http://schemas.microsoft.com/office/drawing/2014/main" val="20005"/>
                    </a:ext>
                  </a:extLst>
                </a:gridCol>
                <a:gridCol w="1645920">
                  <a:extLst>
                    <a:ext uri="{9D8B030D-6E8A-4147-A177-3AD203B41FA5}">
                      <a16:colId xmlns:a16="http://schemas.microsoft.com/office/drawing/2014/main" val="20006"/>
                    </a:ext>
                  </a:extLst>
                </a:gridCol>
              </a:tblGrid>
              <a:tr h="658368">
                <a:tc>
                  <a:txBody>
                    <a:bodyPr/>
                    <a:lstStyle/>
                    <a:p>
                      <a:pPr marL="0" indent="0" algn="ctr">
                        <a:buNone/>
                      </a:pPr>
                      <a:r>
                        <a:rPr lang="en-US" sz="800" b="1" dirty="0">
                          <a:solidFill>
                            <a:srgbClr val="FFFFFF"/>
                          </a:solidFill>
                        </a:rPr>
                        <a:t>No.</a:t>
                      </a:r>
                      <a:endParaRPr lang="en-US" sz="8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B1F3A"/>
                    </a:solidFill>
                  </a:tcPr>
                </a:tc>
                <a:tc>
                  <a:txBody>
                    <a:bodyPr/>
                    <a:lstStyle/>
                    <a:p>
                      <a:pPr marL="0" indent="0">
                        <a:buNone/>
                      </a:pPr>
                      <a:r>
                        <a:rPr lang="en-US" sz="800" b="1" dirty="0">
                          <a:solidFill>
                            <a:srgbClr val="FFFFFF"/>
                          </a:solidFill>
                        </a:rPr>
                        <a:t>STUDY / SOURCE</a:t>
                      </a:r>
                      <a:endParaRPr lang="en-US" sz="800" dirty="0"/>
                    </a:p>
                    <a:p>
                      <a:pPr marL="0" indent="0">
                        <a:buNone/>
                      </a:pPr>
                      <a:r>
                        <a:rPr lang="en-US" sz="800" b="1" dirty="0">
                          <a:solidFill>
                            <a:srgbClr val="FFFFFF"/>
                          </a:solidFill>
                        </a:rPr>
                        <a:t>(Title + Link)</a:t>
                      </a:r>
                      <a:endParaRPr lang="en-US" sz="8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B1F3A"/>
                    </a:solidFill>
                  </a:tcPr>
                </a:tc>
                <a:tc>
                  <a:txBody>
                    <a:bodyPr/>
                    <a:lstStyle/>
                    <a:p>
                      <a:pPr marL="0" indent="0">
                        <a:buNone/>
                      </a:pPr>
                      <a:r>
                        <a:rPr lang="en-US" sz="800" b="1" dirty="0">
                          <a:solidFill>
                            <a:srgbClr val="FFFFFF"/>
                          </a:solidFill>
                        </a:rPr>
                        <a:t>FOCUS / CONTRIBUTION</a:t>
                      </a:r>
                      <a:endParaRPr lang="en-US" sz="8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B1F3A"/>
                    </a:solidFill>
                  </a:tcPr>
                </a:tc>
                <a:tc>
                  <a:txBody>
                    <a:bodyPr/>
                    <a:lstStyle/>
                    <a:p>
                      <a:pPr marL="0" indent="0">
                        <a:buNone/>
                      </a:pPr>
                      <a:r>
                        <a:rPr lang="en-US" sz="800" b="1" dirty="0">
                          <a:solidFill>
                            <a:srgbClr val="FFFFFF"/>
                          </a:solidFill>
                        </a:rPr>
                        <a:t>TECHNOLOGY / SYSTEMS MENTIONED</a:t>
                      </a:r>
                      <a:endParaRPr lang="en-US" sz="8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B1F3A"/>
                    </a:solidFill>
                  </a:tcPr>
                </a:tc>
                <a:tc>
                  <a:txBody>
                    <a:bodyPr/>
                    <a:lstStyle/>
                    <a:p>
                      <a:pPr marL="0" indent="0">
                        <a:buNone/>
                      </a:pPr>
                      <a:r>
                        <a:rPr lang="en-US" sz="800" b="1" dirty="0">
                          <a:solidFill>
                            <a:srgbClr val="FFFFFF"/>
                          </a:solidFill>
                        </a:rPr>
                        <a:t>KEY FINDINGS / INSIGHTS</a:t>
                      </a:r>
                      <a:endParaRPr lang="en-US" sz="8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B1F3A"/>
                    </a:solidFill>
                  </a:tcPr>
                </a:tc>
                <a:tc>
                  <a:txBody>
                    <a:bodyPr/>
                    <a:lstStyle/>
                    <a:p>
                      <a:pPr marL="0" indent="0">
                        <a:buNone/>
                      </a:pPr>
                      <a:r>
                        <a:rPr lang="en-US" sz="800" b="1" dirty="0">
                          <a:solidFill>
                            <a:srgbClr val="FFFFFF"/>
                          </a:solidFill>
                        </a:rPr>
                        <a:t>CHALLENGES / LIMITATIONS</a:t>
                      </a:r>
                      <a:endParaRPr lang="en-US" sz="8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B1F3A"/>
                    </a:solidFill>
                  </a:tcPr>
                </a:tc>
                <a:tc>
                  <a:txBody>
                    <a:bodyPr/>
                    <a:lstStyle/>
                    <a:p>
                      <a:pPr marL="0" indent="0">
                        <a:buNone/>
                      </a:pPr>
                      <a:r>
                        <a:rPr lang="en-US" sz="800" b="1" dirty="0">
                          <a:solidFill>
                            <a:srgbClr val="FFFFFF"/>
                          </a:solidFill>
                        </a:rPr>
                        <a:t>RELEVANCE TO MY PROBLEM</a:t>
                      </a:r>
                      <a:endParaRPr lang="en-US" sz="8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B1F3A"/>
                    </a:solidFill>
                  </a:tcPr>
                </a:tc>
                <a:extLst>
                  <a:ext uri="{0D108BD9-81ED-4DB2-BD59-A6C34878D82A}">
                    <a16:rowId xmlns:a16="http://schemas.microsoft.com/office/drawing/2014/main" val="10000"/>
                  </a:ext>
                </a:extLst>
              </a:tr>
              <a:tr h="658368">
                <a:tc>
                  <a:txBody>
                    <a:bodyPr/>
                    <a:lstStyle/>
                    <a:p>
                      <a:pPr marL="0" indent="0" algn="ctr">
                        <a:buNone/>
                      </a:pPr>
                      <a:r>
                        <a:rPr lang="en-US" sz="700" b="1" dirty="0">
                          <a:solidFill>
                            <a:srgbClr val="028090"/>
                          </a:solidFill>
                        </a:rPr>
                        <a:t>6</a:t>
                      </a:r>
                      <a:endParaRPr lang="en-US" sz="7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700" u="sng" dirty="0">
                          <a:solidFill>
                            <a:srgbClr val="1D4ED8"/>
                          </a:solidFill>
                          <a:hlinkClick r:id="rId3">
                            <a:extLst>
                              <a:ext uri="{A12FA001-AC4F-418D-AE19-62706E023703}">
                                <ahyp:hlinkClr xmlns:ahyp="http://schemas.microsoft.com/office/drawing/2018/hyperlinkcolor" val="tx"/>
                              </a:ext>
                            </a:extLst>
                          </a:hlinkClick>
                        </a:rPr>
                        <a:t>IoT-Based Energy Monitoring in Production – ScienceDirect</a:t>
                      </a:r>
                      <a:endParaRPr lang="en-US" sz="700" dirty="0"/>
                    </a:p>
                    <a:p>
                      <a:pPr marL="0" indent="0">
                        <a:buNone/>
                      </a:pPr>
                      <a:r>
                        <a:rPr lang="en-US" sz="700" u="sng" dirty="0">
                          <a:solidFill>
                            <a:srgbClr val="1D4ED8"/>
                          </a:solidFill>
                          <a:hlinkClick r:id="rId3">
                            <a:extLst>
                              <a:ext uri="{A12FA001-AC4F-418D-AE19-62706E023703}">
                                <ahyp:hlinkClr xmlns:ahyp="http://schemas.microsoft.com/office/drawing/2018/hyperlinkcolor" val="tx"/>
                              </a:ext>
                            </a:extLst>
                          </a:hlinkClick>
                        </a:rPr>
                        <a:t>sciencedirect.com/science/article/pii/S2665917424005671</a:t>
                      </a:r>
                      <a:endParaRPr lang="en-US" sz="7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700" dirty="0"/>
                        <a:t>Architecture of IoT energy monitoring; K-Means ML for fault detection in compressed air systems</a:t>
                      </a: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700" dirty="0"/>
                        <a:t>IoT sensors, K-Means clustering, PLCs, MES integration, Industry 4.0</a:t>
                      </a: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700" dirty="0"/>
                        <a:t>Energy monitoring creates operational transparency; ML detects leaks and inefficiencies before manual detection</a:t>
                      </a: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700" dirty="0"/>
                        <a:t>Full potential requires integration with MES/PLC systems which many manufacturers lack</a:t>
                      </a: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700" dirty="0"/>
                        <a:t>Directly supports Nexline's wasted energy challenge; provides architecture model for sensor-to-dashboard data flow</a:t>
                      </a: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1"/>
                  </a:ext>
                </a:extLst>
              </a:tr>
              <a:tr h="658368">
                <a:tc>
                  <a:txBody>
                    <a:bodyPr/>
                    <a:lstStyle/>
                    <a:p>
                      <a:pPr marL="0" indent="0" algn="ctr">
                        <a:buNone/>
                      </a:pPr>
                      <a:r>
                        <a:rPr lang="en-US" sz="700" b="1" dirty="0">
                          <a:solidFill>
                            <a:srgbClr val="028090"/>
                          </a:solidFill>
                        </a:rPr>
                        <a:t>7</a:t>
                      </a:r>
                      <a:endParaRPr lang="en-US" sz="7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AF4F6"/>
                    </a:solidFill>
                  </a:tcPr>
                </a:tc>
                <a:tc>
                  <a:txBody>
                    <a:bodyPr/>
                    <a:lstStyle/>
                    <a:p>
                      <a:pPr marL="0" indent="0">
                        <a:buNone/>
                      </a:pPr>
                      <a:r>
                        <a:rPr lang="en-US" sz="700" u="sng" dirty="0">
                          <a:solidFill>
                            <a:srgbClr val="1D4ED8"/>
                          </a:solidFill>
                          <a:hlinkClick r:id="rId4">
                            <a:extLst>
                              <a:ext uri="{A12FA001-AC4F-418D-AE19-62706E023703}">
                                <ahyp:hlinkClr xmlns:ahyp="http://schemas.microsoft.com/office/drawing/2018/hyperlinkcolor" val="tx"/>
                              </a:ext>
                            </a:extLst>
                          </a:hlinkClick>
                        </a:rPr>
                        <a:t>IoT-Enhanced Energy Management in Smart Manufacturing – The Science Brigade</a:t>
                      </a:r>
                      <a:endParaRPr lang="en-US" sz="700" dirty="0"/>
                    </a:p>
                    <a:p>
                      <a:pPr marL="0" indent="0">
                        <a:buNone/>
                      </a:pPr>
                      <a:r>
                        <a:rPr lang="en-US" sz="700" u="sng" dirty="0">
                          <a:solidFill>
                            <a:srgbClr val="1D4ED8"/>
                          </a:solidFill>
                          <a:hlinkClick r:id="rId4">
                            <a:extLst>
                              <a:ext uri="{A12FA001-AC4F-418D-AE19-62706E023703}">
                                <ahyp:hlinkClr xmlns:ahyp="http://schemas.microsoft.com/office/drawing/2018/hyperlinkcolor" val="tx"/>
                              </a:ext>
                            </a:extLst>
                          </a:hlinkClick>
                        </a:rPr>
                        <a:t>thesciencebrigade.com/iotecj/article/view/543</a:t>
                      </a:r>
                      <a:endParaRPr lang="en-US" sz="7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AF4F6"/>
                    </a:solidFill>
                  </a:tcPr>
                </a:tc>
                <a:tc>
                  <a:txBody>
                    <a:bodyPr/>
                    <a:lstStyle/>
                    <a:p>
                      <a:pPr marL="0" indent="0">
                        <a:buNone/>
                      </a:pPr>
                      <a:r>
                        <a:rPr lang="en-US" sz="700" dirty="0"/>
                        <a:t>Granular IoT energy monitoring enabling adaptive optimization of energy-intensive processes</a:t>
                      </a: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AF4F6"/>
                    </a:solidFill>
                  </a:tcPr>
                </a:tc>
                <a:tc>
                  <a:txBody>
                    <a:bodyPr/>
                    <a:lstStyle/>
                    <a:p>
                      <a:pPr marL="0" indent="0">
                        <a:buNone/>
                      </a:pPr>
                      <a:r>
                        <a:rPr lang="en-US" sz="700" dirty="0"/>
                        <a:t>IEEE IoT sensors, prescriptive analytics, energy submetering, edge computing</a:t>
                      </a: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AF4F6"/>
                    </a:solidFill>
                  </a:tcPr>
                </a:tc>
                <a:tc>
                  <a:txBody>
                    <a:bodyPr/>
                    <a:lstStyle/>
                    <a:p>
                      <a:pPr marL="0" indent="0">
                        <a:buNone/>
                      </a:pPr>
                      <a:r>
                        <a:rPr lang="en-US" sz="700" dirty="0"/>
                        <a:t>IoT-based management systems can reduce energy costs by up to 20%; granular monitoring identifies process-level inefficiencies</a:t>
                      </a: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AF4F6"/>
                    </a:solidFill>
                  </a:tcPr>
                </a:tc>
                <a:tc>
                  <a:txBody>
                    <a:bodyPr/>
                    <a:lstStyle/>
                    <a:p>
                      <a:pPr marL="0" indent="0">
                        <a:buNone/>
                      </a:pPr>
                      <a:r>
                        <a:rPr lang="en-US" sz="700" dirty="0"/>
                        <a:t>Cybersecurity risks in IoT-based energy systems; OT/IT integration complexity</a:t>
                      </a: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AF4F6"/>
                    </a:solidFill>
                  </a:tcPr>
                </a:tc>
                <a:tc>
                  <a:txBody>
                    <a:bodyPr/>
                    <a:lstStyle/>
                    <a:p>
                      <a:pPr marL="0" indent="0">
                        <a:buNone/>
                      </a:pPr>
                      <a:r>
                        <a:rPr lang="en-US" sz="700" dirty="0"/>
                        <a:t>Guides energy KPI design for Nexline's dashboard – power consumption per line, anomaly thresholds</a:t>
                      </a: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AF4F6"/>
                    </a:solidFill>
                  </a:tcPr>
                </a:tc>
                <a:extLst>
                  <a:ext uri="{0D108BD9-81ED-4DB2-BD59-A6C34878D82A}">
                    <a16:rowId xmlns:a16="http://schemas.microsoft.com/office/drawing/2014/main" val="10002"/>
                  </a:ext>
                </a:extLst>
              </a:tr>
              <a:tr h="658368">
                <a:tc>
                  <a:txBody>
                    <a:bodyPr/>
                    <a:lstStyle/>
                    <a:p>
                      <a:pPr marL="0" indent="0" algn="ctr">
                        <a:buNone/>
                      </a:pPr>
                      <a:r>
                        <a:rPr lang="en-US" sz="700" b="1" dirty="0">
                          <a:solidFill>
                            <a:srgbClr val="028090"/>
                          </a:solidFill>
                        </a:rPr>
                        <a:t>8</a:t>
                      </a:r>
                      <a:endParaRPr lang="en-US" sz="7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700" u="sng" dirty="0">
                          <a:solidFill>
                            <a:srgbClr val="1D4ED8"/>
                          </a:solidFill>
                          <a:hlinkClick r:id="rId5">
                            <a:extLst>
                              <a:ext uri="{A12FA001-AC4F-418D-AE19-62706E023703}">
                                <ahyp:hlinkClr xmlns:ahyp="http://schemas.microsoft.com/office/drawing/2018/hyperlinkcolor" val="tx"/>
                              </a:ext>
                            </a:extLst>
                          </a:hlinkClick>
                        </a:rPr>
                        <a:t>TOGAF's Approach for Enterprise Architecture – ResearchGate</a:t>
                      </a:r>
                      <a:endParaRPr lang="en-US" sz="700" dirty="0"/>
                    </a:p>
                    <a:p>
                      <a:pPr marL="0" indent="0">
                        <a:buNone/>
                      </a:pPr>
                      <a:r>
                        <a:rPr lang="en-US" sz="700" u="sng" dirty="0">
                          <a:solidFill>
                            <a:srgbClr val="1D4ED8"/>
                          </a:solidFill>
                          <a:hlinkClick r:id="rId5">
                            <a:extLst>
                              <a:ext uri="{A12FA001-AC4F-418D-AE19-62706E023703}">
                                <ahyp:hlinkClr xmlns:ahyp="http://schemas.microsoft.com/office/drawing/2018/hyperlinkcolor" val="tx"/>
                              </a:ext>
                            </a:extLst>
                          </a:hlinkClick>
                        </a:rPr>
                        <a:t>researchgate.net/publication/384538978</a:t>
                      </a:r>
                      <a:endParaRPr lang="en-US" sz="7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700" dirty="0"/>
                        <a:t>TOGAF ADM framework for planning and governing enterprise IT/OT architectures with embedded security</a:t>
                      </a: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700" dirty="0"/>
                        <a:t>TOGAF ADM phases A–D, threat modeling, data classification, governance layers</a:t>
                      </a: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700" dirty="0"/>
                        <a:t>TOGAF improves governance, risk management, and operational efficiency; security embedded from Phase A onward</a:t>
                      </a: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700" dirty="0"/>
                        <a:t>TOGAF can be too abstract for rapid deployment; needs executive support to avoid stalling</a:t>
                      </a: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700" dirty="0"/>
                        <a:t>Blueprint for designing Nexline's TOGAF architecture across Business, Data, Application, and Technology layers</a:t>
                      </a: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3"/>
                  </a:ext>
                </a:extLst>
              </a:tr>
              <a:tr h="658368">
                <a:tc>
                  <a:txBody>
                    <a:bodyPr/>
                    <a:lstStyle/>
                    <a:p>
                      <a:pPr marL="0" indent="0" algn="ctr">
                        <a:buNone/>
                      </a:pPr>
                      <a:r>
                        <a:rPr lang="en-US" sz="700" b="1" dirty="0">
                          <a:solidFill>
                            <a:srgbClr val="028090"/>
                          </a:solidFill>
                        </a:rPr>
                        <a:t>9</a:t>
                      </a:r>
                      <a:endParaRPr lang="en-US" sz="7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AF4F6"/>
                    </a:solidFill>
                  </a:tcPr>
                </a:tc>
                <a:tc>
                  <a:txBody>
                    <a:bodyPr/>
                    <a:lstStyle/>
                    <a:p>
                      <a:pPr marL="0" indent="0">
                        <a:buNone/>
                      </a:pPr>
                      <a:r>
                        <a:rPr lang="en-US" sz="700" u="sng" dirty="0">
                          <a:solidFill>
                            <a:srgbClr val="1D4ED8"/>
                          </a:solidFill>
                          <a:hlinkClick r:id="rId6">
                            <a:extLst>
                              <a:ext uri="{A12FA001-AC4F-418D-AE19-62706E023703}">
                                <ahyp:hlinkClr xmlns:ahyp="http://schemas.microsoft.com/office/drawing/2018/hyperlinkcolor" val="tx"/>
                              </a:ext>
                            </a:extLst>
                          </a:hlinkClick>
                        </a:rPr>
                        <a:t>Security and Privacy of Digital Twins for Advanced Manufacturing – arXiv</a:t>
                      </a:r>
                      <a:endParaRPr lang="en-US" sz="700" dirty="0"/>
                    </a:p>
                    <a:p>
                      <a:pPr marL="0" indent="0">
                        <a:buNone/>
                      </a:pPr>
                      <a:r>
                        <a:rPr lang="en-US" sz="700" u="sng" dirty="0">
                          <a:solidFill>
                            <a:srgbClr val="1D4ED8"/>
                          </a:solidFill>
                          <a:hlinkClick r:id="rId6">
                            <a:extLst>
                              <a:ext uri="{A12FA001-AC4F-418D-AE19-62706E023703}">
                                <ahyp:hlinkClr xmlns:ahyp="http://schemas.microsoft.com/office/drawing/2018/hyperlinkcolor" val="tx"/>
                              </a:ext>
                            </a:extLst>
                          </a:hlinkClick>
                        </a:rPr>
                        <a:t>arxiv.org/pdf/2412.13939</a:t>
                      </a:r>
                      <a:endParaRPr lang="en-US" sz="7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AF4F6"/>
                    </a:solidFill>
                  </a:tcPr>
                </a:tc>
                <a:tc>
                  <a:txBody>
                    <a:bodyPr/>
                    <a:lstStyle/>
                    <a:p>
                      <a:pPr marL="0" indent="0">
                        <a:buNone/>
                      </a:pPr>
                      <a:r>
                        <a:rPr lang="en-US" sz="700" dirty="0"/>
                        <a:t>Analysis of cybersecurity threats unique to digital twins: data collection, sharing, and ML model risks</a:t>
                      </a: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AF4F6"/>
                    </a:solidFill>
                  </a:tcPr>
                </a:tc>
                <a:tc>
                  <a:txBody>
                    <a:bodyPr/>
                    <a:lstStyle/>
                    <a:p>
                      <a:pPr marL="0" indent="0">
                        <a:buNone/>
                      </a:pPr>
                      <a:r>
                        <a:rPr lang="en-US" sz="700" dirty="0"/>
                        <a:t>Cyber-physical systems, IIoT, ML/DL security, system-level privacy</a:t>
                      </a: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AF4F6"/>
                    </a:solidFill>
                  </a:tcPr>
                </a:tc>
                <a:tc>
                  <a:txBody>
                    <a:bodyPr/>
                    <a:lstStyle/>
                    <a:p>
                      <a:pPr marL="0" indent="0">
                        <a:buNone/>
                      </a:pPr>
                      <a:r>
                        <a:rPr lang="en-US" sz="700" dirty="0"/>
                        <a:t>DT integration of CPS, IIoT, and ML introduces numerous security/privacy vulnerabilities; adversarial attacks on ML models are a critical risk</a:t>
                      </a: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AF4F6"/>
                    </a:solidFill>
                  </a:tcPr>
                </a:tc>
                <a:tc>
                  <a:txBody>
                    <a:bodyPr/>
                    <a:lstStyle/>
                    <a:p>
                      <a:pPr marL="0" indent="0">
                        <a:buNone/>
                      </a:pPr>
                      <a:r>
                        <a:rPr lang="en-US" sz="700" dirty="0"/>
                        <a:t>Security solutions increase system complexity; real-time performance vs. security tradeoffs</a:t>
                      </a: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AF4F6"/>
                    </a:solidFill>
                  </a:tcPr>
                </a:tc>
                <a:tc>
                  <a:txBody>
                    <a:bodyPr/>
                    <a:lstStyle/>
                    <a:p>
                      <a:pPr marL="0" indent="0">
                        <a:buNone/>
                      </a:pPr>
                      <a:r>
                        <a:rPr lang="en-US" sz="700" dirty="0"/>
                        <a:t>Informs Nexline's governance policy on data handling, access control, and model integrity for the digital twin</a:t>
                      </a: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AF4F6"/>
                    </a:solidFill>
                  </a:tcPr>
                </a:tc>
                <a:extLst>
                  <a:ext uri="{0D108BD9-81ED-4DB2-BD59-A6C34878D82A}">
                    <a16:rowId xmlns:a16="http://schemas.microsoft.com/office/drawing/2014/main" val="10004"/>
                  </a:ext>
                </a:extLst>
              </a:tr>
              <a:tr h="658368">
                <a:tc>
                  <a:txBody>
                    <a:bodyPr/>
                    <a:lstStyle/>
                    <a:p>
                      <a:pPr marL="0" indent="0" algn="ctr">
                        <a:buNone/>
                      </a:pPr>
                      <a:r>
                        <a:rPr lang="en-US" sz="700" b="1" dirty="0">
                          <a:solidFill>
                            <a:srgbClr val="028090"/>
                          </a:solidFill>
                        </a:rPr>
                        <a:t>10</a:t>
                      </a:r>
                      <a:endParaRPr lang="en-US" sz="7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700" u="sng" dirty="0">
                          <a:solidFill>
                            <a:srgbClr val="1D4ED8"/>
                          </a:solidFill>
                          <a:hlinkClick r:id="rId7">
                            <a:extLst>
                              <a:ext uri="{A12FA001-AC4F-418D-AE19-62706E023703}">
                                <ahyp:hlinkClr xmlns:ahyp="http://schemas.microsoft.com/office/drawing/2018/hyperlinkcolor" val="tx"/>
                              </a:ext>
                            </a:extLst>
                          </a:hlinkClick>
                        </a:rPr>
                        <a:t>AI in Predictive Maintenance: Reducing Downtime – LinkedIn / Gartner 2024</a:t>
                      </a:r>
                      <a:endParaRPr lang="en-US" sz="700" dirty="0"/>
                    </a:p>
                    <a:p>
                      <a:pPr marL="0" indent="0">
                        <a:buNone/>
                      </a:pPr>
                      <a:r>
                        <a:rPr lang="en-US" sz="700" u="sng" dirty="0">
                          <a:solidFill>
                            <a:srgbClr val="1D4ED8"/>
                          </a:solidFill>
                          <a:hlinkClick r:id="rId7">
                            <a:extLst>
                              <a:ext uri="{A12FA001-AC4F-418D-AE19-62706E023703}">
                                <ahyp:hlinkClr xmlns:ahyp="http://schemas.microsoft.com/office/drawing/2018/hyperlinkcolor" val="tx"/>
                              </a:ext>
                            </a:extLst>
                          </a:hlinkClick>
                        </a:rPr>
                        <a:t>linkedin.com/pulse/ai-predictive-maintenance-reducing-downtime-through-intelligent-ipaac</a:t>
                      </a:r>
                      <a:endParaRPr lang="en-US" sz="7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700" dirty="0"/>
                        <a:t>Market forecasts and AI adoption trends for predictive maintenance in manufacturing</a:t>
                      </a: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700" dirty="0"/>
                        <a:t>AI/ML algorithms, IIoT sensor arrays, anomaly detection, failure prediction models</a:t>
                      </a: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700" dirty="0"/>
                        <a:t>Gartner: 70% of manufacturers will use AI/IIoT-based PdM by 2027; McKinsey: unplanned downtime costs $50B annually</a:t>
                      </a: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700" dirty="0"/>
                        <a:t>Data quality and system integration complexity are top barriers to adoption</a:t>
                      </a: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700" dirty="0"/>
                        <a:t>Provides market-validated urgency for Nexline to adopt predictive analytics now to remain competitive in aerospace/auto supply chains</a:t>
                      </a: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0B1F3A"/>
          </a:solidFill>
          <a:ln w="12700">
            <a:solidFill>
              <a:srgbClr val="0B1F3A"/>
            </a:solidFill>
            <a:prstDash val="solid"/>
          </a:ln>
        </p:spPr>
        <p:txBody>
          <a:bodyPr/>
          <a:lstStyle/>
          <a:p>
            <a:endParaRPr lang="en-US"/>
          </a:p>
        </p:txBody>
      </p:sp>
      <p:sp>
        <p:nvSpPr>
          <p:cNvPr id="3" name="Shape 1"/>
          <p:cNvSpPr/>
          <p:nvPr/>
        </p:nvSpPr>
        <p:spPr>
          <a:xfrm>
            <a:off x="0" y="685800"/>
            <a:ext cx="9144000" cy="73152"/>
          </a:xfrm>
          <a:prstGeom prst="rect">
            <a:avLst/>
          </a:prstGeom>
          <a:solidFill>
            <a:srgbClr val="028090"/>
          </a:solidFill>
          <a:ln w="12700">
            <a:solidFill>
              <a:srgbClr val="028090"/>
            </a:solidFill>
            <a:prstDash val="solid"/>
          </a:ln>
        </p:spPr>
        <p:txBody>
          <a:bodyPr/>
          <a:lstStyle/>
          <a:p>
            <a:endParaRPr lang="en-US"/>
          </a:p>
        </p:txBody>
      </p:sp>
      <p:sp>
        <p:nvSpPr>
          <p:cNvPr id="4" name="Shape 2"/>
          <p:cNvSpPr/>
          <p:nvPr/>
        </p:nvSpPr>
        <p:spPr>
          <a:xfrm>
            <a:off x="320040" y="109728"/>
            <a:ext cx="2103120" cy="384048"/>
          </a:xfrm>
          <a:prstGeom prst="roundRect">
            <a:avLst>
              <a:gd name="adj" fmla="val 19048"/>
            </a:avLst>
          </a:prstGeom>
          <a:solidFill>
            <a:srgbClr val="028090"/>
          </a:solidFill>
          <a:ln w="12700">
            <a:solidFill>
              <a:srgbClr val="028090"/>
            </a:solidFill>
            <a:prstDash val="solid"/>
          </a:ln>
        </p:spPr>
        <p:txBody>
          <a:bodyPr/>
          <a:lstStyle/>
          <a:p>
            <a:endParaRPr lang="en-US"/>
          </a:p>
        </p:txBody>
      </p:sp>
      <p:sp>
        <p:nvSpPr>
          <p:cNvPr id="5" name="Text 3"/>
          <p:cNvSpPr/>
          <p:nvPr/>
        </p:nvSpPr>
        <p:spPr>
          <a:xfrm>
            <a:off x="320040" y="109728"/>
            <a:ext cx="2103120" cy="384048"/>
          </a:xfrm>
          <a:prstGeom prst="rect">
            <a:avLst/>
          </a:prstGeom>
          <a:noFill/>
          <a:ln/>
        </p:spPr>
        <p:txBody>
          <a:bodyPr wrap="square" lIns="0" tIns="0" rIns="0" bIns="0" rtlCol="0" anchor="ctr"/>
          <a:lstStyle/>
          <a:p>
            <a:pPr marL="0" indent="0" algn="ctr">
              <a:buNone/>
            </a:pPr>
            <a:r>
              <a:rPr lang="en-US" sz="900" b="1" dirty="0">
                <a:solidFill>
                  <a:srgbClr val="FFFFFF"/>
                </a:solidFill>
              </a:rPr>
              <a:t>RESEARCH SUMMARY</a:t>
            </a:r>
            <a:endParaRPr lang="en-US" sz="900" dirty="0"/>
          </a:p>
        </p:txBody>
      </p:sp>
      <p:sp>
        <p:nvSpPr>
          <p:cNvPr id="6" name="Text 4"/>
          <p:cNvSpPr/>
          <p:nvPr/>
        </p:nvSpPr>
        <p:spPr>
          <a:xfrm>
            <a:off x="2651760" y="82296"/>
            <a:ext cx="6217920" cy="502920"/>
          </a:xfrm>
          <a:prstGeom prst="rect">
            <a:avLst/>
          </a:prstGeom>
          <a:noFill/>
          <a:ln/>
        </p:spPr>
        <p:txBody>
          <a:bodyPr wrap="square" lIns="0" tIns="0" rIns="0" bIns="0" rtlCol="0" anchor="ctr"/>
          <a:lstStyle/>
          <a:p>
            <a:pPr marL="0" indent="0" algn="l">
              <a:buNone/>
            </a:pPr>
            <a:r>
              <a:rPr lang="en-US" sz="1600" b="1" dirty="0">
                <a:solidFill>
                  <a:srgbClr val="FFFFFF"/>
                </a:solidFill>
              </a:rPr>
              <a:t>Research Summary Table – Sources 11–15</a:t>
            </a:r>
            <a:endParaRPr lang="en-US" sz="1600" dirty="0"/>
          </a:p>
        </p:txBody>
      </p:sp>
      <p:sp>
        <p:nvSpPr>
          <p:cNvPr id="7" name="Text 5"/>
          <p:cNvSpPr/>
          <p:nvPr/>
        </p:nvSpPr>
        <p:spPr>
          <a:xfrm>
            <a:off x="320040" y="758952"/>
            <a:ext cx="8503920" cy="228600"/>
          </a:xfrm>
          <a:prstGeom prst="rect">
            <a:avLst/>
          </a:prstGeom>
          <a:noFill/>
          <a:ln/>
        </p:spPr>
        <p:txBody>
          <a:bodyPr wrap="square" lIns="0" tIns="0" rIns="0" bIns="0" rtlCol="0" anchor="ctr"/>
          <a:lstStyle/>
          <a:p>
            <a:pPr marL="0" indent="0" algn="l">
              <a:buNone/>
            </a:pPr>
            <a:r>
              <a:rPr lang="en-US" sz="850" i="1" dirty="0">
                <a:solidFill>
                  <a:srgbClr val="028090"/>
                </a:solidFill>
              </a:rPr>
              <a:t>Industrial IoT, Edge Computing &amp; Operational Efficiency</a:t>
            </a:r>
            <a:endParaRPr lang="en-US" sz="850" dirty="0"/>
          </a:p>
        </p:txBody>
      </p:sp>
      <p:sp>
        <p:nvSpPr>
          <p:cNvPr id="8" name="Shape 6"/>
          <p:cNvSpPr/>
          <p:nvPr/>
        </p:nvSpPr>
        <p:spPr>
          <a:xfrm>
            <a:off x="0" y="4919472"/>
            <a:ext cx="9144000" cy="224028"/>
          </a:xfrm>
          <a:prstGeom prst="rect">
            <a:avLst/>
          </a:prstGeom>
          <a:solidFill>
            <a:srgbClr val="0B1F3A"/>
          </a:solidFill>
          <a:ln w="12700">
            <a:solidFill>
              <a:srgbClr val="0B1F3A"/>
            </a:solidFill>
            <a:prstDash val="solid"/>
          </a:ln>
        </p:spPr>
        <p:txBody>
          <a:bodyPr/>
          <a:lstStyle/>
          <a:p>
            <a:endParaRPr lang="en-US"/>
          </a:p>
        </p:txBody>
      </p:sp>
      <p:sp>
        <p:nvSpPr>
          <p:cNvPr id="9" name="Text 7"/>
          <p:cNvSpPr/>
          <p:nvPr/>
        </p:nvSpPr>
        <p:spPr>
          <a:xfrm>
            <a:off x="274320" y="4919472"/>
            <a:ext cx="7315200" cy="224028"/>
          </a:xfrm>
          <a:prstGeom prst="rect">
            <a:avLst/>
          </a:prstGeom>
          <a:noFill/>
          <a:ln/>
        </p:spPr>
        <p:txBody>
          <a:bodyPr wrap="square" lIns="0" tIns="0" rIns="0" bIns="0" rtlCol="0" anchor="ctr"/>
          <a:lstStyle/>
          <a:p>
            <a:pPr marL="0" indent="0" algn="l">
              <a:buNone/>
            </a:pPr>
            <a:r>
              <a:rPr lang="en-US" sz="700" dirty="0">
                <a:solidFill>
                  <a:srgbClr val="FFFFFF"/>
                </a:solidFill>
              </a:rPr>
              <a:t>Nexline Manufacturing – Operational Optimization Project | Confidential</a:t>
            </a:r>
            <a:endParaRPr lang="en-US" sz="700" dirty="0"/>
          </a:p>
        </p:txBody>
      </p:sp>
      <p:sp>
        <p:nvSpPr>
          <p:cNvPr id="10" name="Text 8"/>
          <p:cNvSpPr/>
          <p:nvPr/>
        </p:nvSpPr>
        <p:spPr>
          <a:xfrm>
            <a:off x="8229600" y="4919472"/>
            <a:ext cx="640080" cy="224028"/>
          </a:xfrm>
          <a:prstGeom prst="rect">
            <a:avLst/>
          </a:prstGeom>
          <a:noFill/>
          <a:ln/>
        </p:spPr>
        <p:txBody>
          <a:bodyPr wrap="square" lIns="0" tIns="0" rIns="0" bIns="0" rtlCol="0" anchor="ctr"/>
          <a:lstStyle/>
          <a:p>
            <a:pPr marL="0" indent="0" algn="r">
              <a:buNone/>
            </a:pPr>
            <a:r>
              <a:rPr lang="en-US" sz="700" dirty="0">
                <a:solidFill>
                  <a:srgbClr val="FFFFFF"/>
                </a:solidFill>
              </a:rPr>
              <a:t>4</a:t>
            </a:r>
            <a:endParaRPr lang="en-US" sz="7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182880" y="1051560"/>
          <a:ext cx="8778240" cy="3950208"/>
        </p:xfrm>
        <a:graphic>
          <a:graphicData uri="http://schemas.openxmlformats.org/drawingml/2006/table">
            <a:tbl>
              <a:tblPr/>
              <a:tblGrid>
                <a:gridCol w="274320">
                  <a:extLst>
                    <a:ext uri="{9D8B030D-6E8A-4147-A177-3AD203B41FA5}">
                      <a16:colId xmlns:a16="http://schemas.microsoft.com/office/drawing/2014/main" val="20000"/>
                    </a:ext>
                  </a:extLst>
                </a:gridCol>
                <a:gridCol w="1645920">
                  <a:extLst>
                    <a:ext uri="{9D8B030D-6E8A-4147-A177-3AD203B41FA5}">
                      <a16:colId xmlns:a16="http://schemas.microsoft.com/office/drawing/2014/main" val="20001"/>
                    </a:ext>
                  </a:extLst>
                </a:gridCol>
                <a:gridCol w="1234440">
                  <a:extLst>
                    <a:ext uri="{9D8B030D-6E8A-4147-A177-3AD203B41FA5}">
                      <a16:colId xmlns:a16="http://schemas.microsoft.com/office/drawing/2014/main" val="20002"/>
                    </a:ext>
                  </a:extLst>
                </a:gridCol>
                <a:gridCol w="1234440">
                  <a:extLst>
                    <a:ext uri="{9D8B030D-6E8A-4147-A177-3AD203B41FA5}">
                      <a16:colId xmlns:a16="http://schemas.microsoft.com/office/drawing/2014/main" val="20003"/>
                    </a:ext>
                  </a:extLst>
                </a:gridCol>
                <a:gridCol w="1508760">
                  <a:extLst>
                    <a:ext uri="{9D8B030D-6E8A-4147-A177-3AD203B41FA5}">
                      <a16:colId xmlns:a16="http://schemas.microsoft.com/office/drawing/2014/main" val="20004"/>
                    </a:ext>
                  </a:extLst>
                </a:gridCol>
                <a:gridCol w="1234440">
                  <a:extLst>
                    <a:ext uri="{9D8B030D-6E8A-4147-A177-3AD203B41FA5}">
                      <a16:colId xmlns:a16="http://schemas.microsoft.com/office/drawing/2014/main" val="20005"/>
                    </a:ext>
                  </a:extLst>
                </a:gridCol>
                <a:gridCol w="1645920">
                  <a:extLst>
                    <a:ext uri="{9D8B030D-6E8A-4147-A177-3AD203B41FA5}">
                      <a16:colId xmlns:a16="http://schemas.microsoft.com/office/drawing/2014/main" val="20006"/>
                    </a:ext>
                  </a:extLst>
                </a:gridCol>
              </a:tblGrid>
              <a:tr h="658368">
                <a:tc>
                  <a:txBody>
                    <a:bodyPr/>
                    <a:lstStyle/>
                    <a:p>
                      <a:pPr marL="0" indent="0" algn="ctr">
                        <a:buNone/>
                      </a:pPr>
                      <a:r>
                        <a:rPr lang="en-US" sz="800" b="1" dirty="0">
                          <a:solidFill>
                            <a:srgbClr val="FFFFFF"/>
                          </a:solidFill>
                        </a:rPr>
                        <a:t>No.</a:t>
                      </a:r>
                      <a:endParaRPr lang="en-US" sz="8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B1F3A"/>
                    </a:solidFill>
                  </a:tcPr>
                </a:tc>
                <a:tc>
                  <a:txBody>
                    <a:bodyPr/>
                    <a:lstStyle/>
                    <a:p>
                      <a:pPr marL="0" indent="0">
                        <a:buNone/>
                      </a:pPr>
                      <a:r>
                        <a:rPr lang="en-US" sz="800" b="1" dirty="0">
                          <a:solidFill>
                            <a:srgbClr val="FFFFFF"/>
                          </a:solidFill>
                        </a:rPr>
                        <a:t>STUDY / SOURCE</a:t>
                      </a:r>
                      <a:endParaRPr lang="en-US" sz="800" dirty="0"/>
                    </a:p>
                    <a:p>
                      <a:pPr marL="0" indent="0">
                        <a:buNone/>
                      </a:pPr>
                      <a:r>
                        <a:rPr lang="en-US" sz="800" b="1" dirty="0">
                          <a:solidFill>
                            <a:srgbClr val="FFFFFF"/>
                          </a:solidFill>
                        </a:rPr>
                        <a:t>(Title + Link)</a:t>
                      </a:r>
                      <a:endParaRPr lang="en-US" sz="8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B1F3A"/>
                    </a:solidFill>
                  </a:tcPr>
                </a:tc>
                <a:tc>
                  <a:txBody>
                    <a:bodyPr/>
                    <a:lstStyle/>
                    <a:p>
                      <a:pPr marL="0" indent="0">
                        <a:buNone/>
                      </a:pPr>
                      <a:r>
                        <a:rPr lang="en-US" sz="800" b="1" dirty="0">
                          <a:solidFill>
                            <a:srgbClr val="FFFFFF"/>
                          </a:solidFill>
                        </a:rPr>
                        <a:t>FOCUS / CONTRIBUTION</a:t>
                      </a:r>
                      <a:endParaRPr lang="en-US" sz="8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B1F3A"/>
                    </a:solidFill>
                  </a:tcPr>
                </a:tc>
                <a:tc>
                  <a:txBody>
                    <a:bodyPr/>
                    <a:lstStyle/>
                    <a:p>
                      <a:pPr marL="0" indent="0">
                        <a:buNone/>
                      </a:pPr>
                      <a:r>
                        <a:rPr lang="en-US" sz="800" b="1" dirty="0">
                          <a:solidFill>
                            <a:srgbClr val="FFFFFF"/>
                          </a:solidFill>
                        </a:rPr>
                        <a:t>TECHNOLOGY / SYSTEMS MENTIONED</a:t>
                      </a:r>
                      <a:endParaRPr lang="en-US" sz="8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B1F3A"/>
                    </a:solidFill>
                  </a:tcPr>
                </a:tc>
                <a:tc>
                  <a:txBody>
                    <a:bodyPr/>
                    <a:lstStyle/>
                    <a:p>
                      <a:pPr marL="0" indent="0">
                        <a:buNone/>
                      </a:pPr>
                      <a:r>
                        <a:rPr lang="en-US" sz="800" b="1" dirty="0">
                          <a:solidFill>
                            <a:srgbClr val="FFFFFF"/>
                          </a:solidFill>
                        </a:rPr>
                        <a:t>KEY FINDINGS / INSIGHTS</a:t>
                      </a:r>
                      <a:endParaRPr lang="en-US" sz="8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B1F3A"/>
                    </a:solidFill>
                  </a:tcPr>
                </a:tc>
                <a:tc>
                  <a:txBody>
                    <a:bodyPr/>
                    <a:lstStyle/>
                    <a:p>
                      <a:pPr marL="0" indent="0">
                        <a:buNone/>
                      </a:pPr>
                      <a:r>
                        <a:rPr lang="en-US" sz="800" b="1" dirty="0">
                          <a:solidFill>
                            <a:srgbClr val="FFFFFF"/>
                          </a:solidFill>
                        </a:rPr>
                        <a:t>CHALLENGES / LIMITATIONS</a:t>
                      </a:r>
                      <a:endParaRPr lang="en-US" sz="8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B1F3A"/>
                    </a:solidFill>
                  </a:tcPr>
                </a:tc>
                <a:tc>
                  <a:txBody>
                    <a:bodyPr/>
                    <a:lstStyle/>
                    <a:p>
                      <a:pPr marL="0" indent="0">
                        <a:buNone/>
                      </a:pPr>
                      <a:r>
                        <a:rPr lang="en-US" sz="800" b="1" dirty="0">
                          <a:solidFill>
                            <a:srgbClr val="FFFFFF"/>
                          </a:solidFill>
                        </a:rPr>
                        <a:t>RELEVANCE TO MY PROBLEM</a:t>
                      </a:r>
                      <a:endParaRPr lang="en-US" sz="8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B1F3A"/>
                    </a:solidFill>
                  </a:tcPr>
                </a:tc>
                <a:extLst>
                  <a:ext uri="{0D108BD9-81ED-4DB2-BD59-A6C34878D82A}">
                    <a16:rowId xmlns:a16="http://schemas.microsoft.com/office/drawing/2014/main" val="10000"/>
                  </a:ext>
                </a:extLst>
              </a:tr>
              <a:tr h="658368">
                <a:tc>
                  <a:txBody>
                    <a:bodyPr/>
                    <a:lstStyle/>
                    <a:p>
                      <a:pPr marL="0" indent="0" algn="ctr">
                        <a:buNone/>
                      </a:pPr>
                      <a:r>
                        <a:rPr lang="en-US" sz="700" b="1" dirty="0">
                          <a:solidFill>
                            <a:srgbClr val="028090"/>
                          </a:solidFill>
                        </a:rPr>
                        <a:t>11</a:t>
                      </a:r>
                      <a:endParaRPr lang="en-US" sz="7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700" u="sng" dirty="0">
                          <a:solidFill>
                            <a:srgbClr val="1D4ED8"/>
                          </a:solidFill>
                          <a:hlinkClick r:id="rId3">
                            <a:extLst>
                              <a:ext uri="{A12FA001-AC4F-418D-AE19-62706E023703}">
                                <ahyp:hlinkClr xmlns:ahyp="http://schemas.microsoft.com/office/drawing/2018/hyperlinkcolor" val="tx"/>
                              </a:ext>
                            </a:extLst>
                          </a:hlinkClick>
                        </a:rPr>
                        <a:t>Industrial IIoT Edge-Based Energy Monitoring System – MDPI IoT</a:t>
                      </a:r>
                      <a:endParaRPr lang="en-US" sz="700" dirty="0"/>
                    </a:p>
                    <a:p>
                      <a:pPr marL="0" indent="0">
                        <a:buNone/>
                      </a:pPr>
                      <a:r>
                        <a:rPr lang="en-US" sz="700" u="sng" dirty="0">
                          <a:solidFill>
                            <a:srgbClr val="1D4ED8"/>
                          </a:solidFill>
                          <a:hlinkClick r:id="rId3">
                            <a:extLst>
                              <a:ext uri="{A12FA001-AC4F-418D-AE19-62706E023703}">
                                <ahyp:hlinkClr xmlns:ahyp="http://schemas.microsoft.com/office/drawing/2018/hyperlinkcolor" val="tx"/>
                              </a:ext>
                            </a:extLst>
                          </a:hlinkClick>
                        </a:rPr>
                        <a:t>mdpi.com/2624-831X/5/4/27</a:t>
                      </a:r>
                      <a:endParaRPr lang="en-US" sz="7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700" dirty="0"/>
                        <a:t>Designs and implements IIoT+edge system for monitoring energy of factory floor assets (stationary &amp; mobile)</a:t>
                      </a: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700" dirty="0"/>
                        <a:t>Wireless energy meters, edge computing, cloud database, Modbus/TCP, EtherNet/IP</a:t>
                      </a: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700" dirty="0"/>
                        <a:t>Edge processing of meter data generates 9 analytical parameters locally; reduces cloud latency; supports real-time anomaly detection</a:t>
                      </a: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700" dirty="0"/>
                        <a:t>Wireless meter accuracy limitations; network reliability in harsh factory environments</a:t>
                      </a: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700" dirty="0"/>
                        <a:t>Provides practical sensor architecture for Nexline's factory floor energy metering across two plants, 24/7 operation</a:t>
                      </a: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1"/>
                  </a:ext>
                </a:extLst>
              </a:tr>
              <a:tr h="658368">
                <a:tc>
                  <a:txBody>
                    <a:bodyPr/>
                    <a:lstStyle/>
                    <a:p>
                      <a:pPr marL="0" indent="0" algn="ctr">
                        <a:buNone/>
                      </a:pPr>
                      <a:r>
                        <a:rPr lang="en-US" sz="700" b="1" dirty="0">
                          <a:solidFill>
                            <a:srgbClr val="028090"/>
                          </a:solidFill>
                        </a:rPr>
                        <a:t>12</a:t>
                      </a:r>
                      <a:endParaRPr lang="en-US" sz="7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AF4F6"/>
                    </a:solidFill>
                  </a:tcPr>
                </a:tc>
                <a:tc>
                  <a:txBody>
                    <a:bodyPr/>
                    <a:lstStyle/>
                    <a:p>
                      <a:pPr marL="0" indent="0">
                        <a:buNone/>
                      </a:pPr>
                      <a:r>
                        <a:rPr lang="en-US" sz="700" u="sng" dirty="0">
                          <a:solidFill>
                            <a:srgbClr val="1D4ED8"/>
                          </a:solidFill>
                          <a:hlinkClick r:id="rId4">
                            <a:extLst>
                              <a:ext uri="{A12FA001-AC4F-418D-AE19-62706E023703}">
                                <ahyp:hlinkClr xmlns:ahyp="http://schemas.microsoft.com/office/drawing/2018/hyperlinkcolor" val="tx"/>
                              </a:ext>
                            </a:extLst>
                          </a:hlinkClick>
                        </a:rPr>
                        <a:t>Digital Twins for Smart Manufacturing: The Ultimate Guide – Emerline</a:t>
                      </a:r>
                      <a:endParaRPr lang="en-US" sz="700" dirty="0"/>
                    </a:p>
                    <a:p>
                      <a:pPr marL="0" indent="0">
                        <a:buNone/>
                      </a:pPr>
                      <a:r>
                        <a:rPr lang="en-US" sz="700" u="sng" dirty="0">
                          <a:solidFill>
                            <a:srgbClr val="1D4ED8"/>
                          </a:solidFill>
                          <a:hlinkClick r:id="rId4">
                            <a:extLst>
                              <a:ext uri="{A12FA001-AC4F-418D-AE19-62706E023703}">
                                <ahyp:hlinkClr xmlns:ahyp="http://schemas.microsoft.com/office/drawing/2018/hyperlinkcolor" val="tx"/>
                              </a:ext>
                            </a:extLst>
                          </a:hlinkClick>
                        </a:rPr>
                        <a:t>emerline.com/blog/digital-twins</a:t>
                      </a:r>
                      <a:endParaRPr lang="en-US" sz="7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AF4F6"/>
                    </a:solidFill>
                  </a:tcPr>
                </a:tc>
                <a:tc>
                  <a:txBody>
                    <a:bodyPr/>
                    <a:lstStyle/>
                    <a:p>
                      <a:pPr marL="0" indent="0">
                        <a:buNone/>
                      </a:pPr>
                      <a:r>
                        <a:rPr lang="en-US" sz="700" dirty="0"/>
                        <a:t>Explains master/shadow DT model and continuous feedback loop for operational optimization</a:t>
                      </a: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AF4F6"/>
                    </a:solidFill>
                  </a:tcPr>
                </a:tc>
                <a:tc>
                  <a:txBody>
                    <a:bodyPr/>
                    <a:lstStyle/>
                    <a:p>
                      <a:pPr marL="0" indent="0">
                        <a:buNone/>
                      </a:pPr>
                      <a:r>
                        <a:rPr lang="en-US" sz="700" dirty="0"/>
                        <a:t>IoT data feeds, AI analytics, process twins, product twins, Industry 4.0 integration</a:t>
                      </a: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AF4F6"/>
                    </a:solidFill>
                  </a:tcPr>
                </a:tc>
                <a:tc>
                  <a:txBody>
                    <a:bodyPr/>
                    <a:lstStyle/>
                    <a:p>
                      <a:pPr marL="0" indent="0">
                        <a:buNone/>
                      </a:pPr>
                      <a:r>
                        <a:rPr lang="en-US" sz="700" dirty="0"/>
                        <a:t>Master vs. shadow model comparison identifies deviations and drives continuous improvement; DT manufacturing market projected at $714B by 2032</a:t>
                      </a: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AF4F6"/>
                    </a:solidFill>
                  </a:tcPr>
                </a:tc>
                <a:tc>
                  <a:txBody>
                    <a:bodyPr/>
                    <a:lstStyle/>
                    <a:p>
                      <a:pPr marL="0" indent="0">
                        <a:buNone/>
                      </a:pPr>
                      <a:r>
                        <a:rPr lang="en-US" sz="700" dirty="0"/>
                        <a:t>Static DT models quickly lose predictive value without constant synchronization and data updates</a:t>
                      </a: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AF4F6"/>
                    </a:solidFill>
                  </a:tcPr>
                </a:tc>
                <a:tc>
                  <a:txBody>
                    <a:bodyPr/>
                    <a:lstStyle/>
                    <a:p>
                      <a:pPr marL="0" indent="0">
                        <a:buNone/>
                      </a:pPr>
                      <a:r>
                        <a:rPr lang="en-US" sz="700" dirty="0"/>
                        <a:t>Defines Nexline's DT architecture concept: master (design intent) vs. shadow (live machine state) for CNC and robotic lines</a:t>
                      </a: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AF4F6"/>
                    </a:solidFill>
                  </a:tcPr>
                </a:tc>
                <a:extLst>
                  <a:ext uri="{0D108BD9-81ED-4DB2-BD59-A6C34878D82A}">
                    <a16:rowId xmlns:a16="http://schemas.microsoft.com/office/drawing/2014/main" val="10002"/>
                  </a:ext>
                </a:extLst>
              </a:tr>
              <a:tr h="658368">
                <a:tc>
                  <a:txBody>
                    <a:bodyPr/>
                    <a:lstStyle/>
                    <a:p>
                      <a:pPr marL="0" indent="0" algn="ctr">
                        <a:buNone/>
                      </a:pPr>
                      <a:r>
                        <a:rPr lang="en-US" sz="700" b="1" dirty="0">
                          <a:solidFill>
                            <a:srgbClr val="028090"/>
                          </a:solidFill>
                        </a:rPr>
                        <a:t>13</a:t>
                      </a:r>
                      <a:endParaRPr lang="en-US" sz="7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700" u="sng" dirty="0">
                          <a:solidFill>
                            <a:srgbClr val="1D4ED8"/>
                          </a:solidFill>
                          <a:hlinkClick r:id="rId5">
                            <a:extLst>
                              <a:ext uri="{A12FA001-AC4F-418D-AE19-62706E023703}">
                                <ahyp:hlinkClr xmlns:ahyp="http://schemas.microsoft.com/office/drawing/2018/hyperlinkcolor" val="tx"/>
                              </a:ext>
                            </a:extLst>
                          </a:hlinkClick>
                        </a:rPr>
                        <a:t>IoT Energy Monitoring Adoption in Manufacturing – Emerald Publishing</a:t>
                      </a:r>
                      <a:endParaRPr lang="en-US" sz="700" dirty="0"/>
                    </a:p>
                    <a:p>
                      <a:pPr marL="0" indent="0">
                        <a:buNone/>
                      </a:pPr>
                      <a:r>
                        <a:rPr lang="en-US" sz="700" u="sng" dirty="0">
                          <a:solidFill>
                            <a:srgbClr val="1D4ED8"/>
                          </a:solidFill>
                          <a:hlinkClick r:id="rId5">
                            <a:extLst>
                              <a:ext uri="{A12FA001-AC4F-418D-AE19-62706E023703}">
                                <ahyp:hlinkClr xmlns:ahyp="http://schemas.microsoft.com/office/drawing/2018/hyperlinkcolor" val="tx"/>
                              </a:ext>
                            </a:extLst>
                          </a:hlinkClick>
                        </a:rPr>
                        <a:t>emerald.com/insight/content/doi/10.1108/ijesm-12-2023-0017</a:t>
                      </a:r>
                      <a:endParaRPr lang="en-US" sz="7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700" dirty="0"/>
                        <a:t>Identifies adoption factors for IoT energy monitoring in manufacturing; recommendations for implementation</a:t>
                      </a: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700" dirty="0"/>
                        <a:t>IoT energy monitoring platforms, smart meter networks, energy management systems</a:t>
                      </a: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700" dirty="0"/>
                        <a:t>IoT energy monitoring improves consumption transparency; key adoption drivers are regulatory pressure and energy cost reduction goals</a:t>
                      </a: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700" dirty="0"/>
                        <a:t>Change management and workforce training are underestimated barriers to adoption</a:t>
                      </a: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700" dirty="0"/>
                        <a:t>Supports Nexline's energy KPI monitoring initiative and organizational readiness planning for dashboard adoption</a:t>
                      </a: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3"/>
                  </a:ext>
                </a:extLst>
              </a:tr>
              <a:tr h="658368">
                <a:tc>
                  <a:txBody>
                    <a:bodyPr/>
                    <a:lstStyle/>
                    <a:p>
                      <a:pPr marL="0" indent="0" algn="ctr">
                        <a:buNone/>
                      </a:pPr>
                      <a:r>
                        <a:rPr lang="en-US" sz="700" b="1" dirty="0">
                          <a:solidFill>
                            <a:srgbClr val="028090"/>
                          </a:solidFill>
                        </a:rPr>
                        <a:t>14</a:t>
                      </a:r>
                      <a:endParaRPr lang="en-US" sz="7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AF4F6"/>
                    </a:solidFill>
                  </a:tcPr>
                </a:tc>
                <a:tc>
                  <a:txBody>
                    <a:bodyPr/>
                    <a:lstStyle/>
                    <a:p>
                      <a:pPr marL="0" indent="0">
                        <a:buNone/>
                      </a:pPr>
                      <a:r>
                        <a:rPr lang="en-US" sz="700" u="sng" dirty="0">
                          <a:solidFill>
                            <a:srgbClr val="1D4ED8"/>
                          </a:solidFill>
                          <a:hlinkClick r:id="rId6">
                            <a:extLst>
                              <a:ext uri="{A12FA001-AC4F-418D-AE19-62706E023703}">
                                <ahyp:hlinkClr xmlns:ahyp="http://schemas.microsoft.com/office/drawing/2018/hyperlinkcolor" val="tx"/>
                              </a:ext>
                            </a:extLst>
                          </a:hlinkClick>
                        </a:rPr>
                        <a:t>Real-Time Energy Monitoring in Smart Factories Using IoT Sensors – ResearchGate</a:t>
                      </a:r>
                      <a:endParaRPr lang="en-US" sz="700" dirty="0"/>
                    </a:p>
                    <a:p>
                      <a:pPr marL="0" indent="0">
                        <a:buNone/>
                      </a:pPr>
                      <a:r>
                        <a:rPr lang="en-US" sz="700" u="sng" dirty="0">
                          <a:solidFill>
                            <a:srgbClr val="1D4ED8"/>
                          </a:solidFill>
                          <a:hlinkClick r:id="rId6">
                            <a:extLst>
                              <a:ext uri="{A12FA001-AC4F-418D-AE19-62706E023703}">
                                <ahyp:hlinkClr xmlns:ahyp="http://schemas.microsoft.com/office/drawing/2018/hyperlinkcolor" val="tx"/>
                              </a:ext>
                            </a:extLst>
                          </a:hlinkClick>
                        </a:rPr>
                        <a:t>researchgate.net/publication/391429689</a:t>
                      </a:r>
                      <a:endParaRPr lang="en-US" sz="7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AF4F6"/>
                    </a:solidFill>
                  </a:tcPr>
                </a:tc>
                <a:tc>
                  <a:txBody>
                    <a:bodyPr/>
                    <a:lstStyle/>
                    <a:p>
                      <a:pPr marL="0" indent="0">
                        <a:buNone/>
                      </a:pPr>
                      <a:r>
                        <a:rPr lang="en-US" sz="700" dirty="0"/>
                        <a:t>Sensor-based monitoring for energy, voltage, and efficiency with real-time analytics</a:t>
                      </a: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AF4F6"/>
                    </a:solidFill>
                  </a:tcPr>
                </a:tc>
                <a:tc>
                  <a:txBody>
                    <a:bodyPr/>
                    <a:lstStyle/>
                    <a:p>
                      <a:pPr marL="0" indent="0">
                        <a:buNone/>
                      </a:pPr>
                      <a:r>
                        <a:rPr lang="en-US" sz="700" dirty="0"/>
                        <a:t>Power consumption sensors, voltage measurement, edge analytics, digital twin integration</a:t>
                      </a: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AF4F6"/>
                    </a:solidFill>
                  </a:tcPr>
                </a:tc>
                <a:tc>
                  <a:txBody>
                    <a:bodyPr/>
                    <a:lstStyle/>
                    <a:p>
                      <a:pPr marL="0" indent="0">
                        <a:buNone/>
                      </a:pPr>
                      <a:r>
                        <a:rPr lang="en-US" sz="700" dirty="0"/>
                        <a:t>IoT energy monitoring enhances operational visibility; DTs are core elements for sustainable manufacturing under Industry 4.0</a:t>
                      </a: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AF4F6"/>
                    </a:solidFill>
                  </a:tcPr>
                </a:tc>
                <a:tc>
                  <a:txBody>
                    <a:bodyPr/>
                    <a:lstStyle/>
                    <a:p>
                      <a:pPr marL="0" indent="0">
                        <a:buNone/>
                      </a:pPr>
                      <a:r>
                        <a:rPr lang="en-US" sz="700" dirty="0"/>
                        <a:t>Additional research needed to integrate with PLCs and broader MES ecosystem</a:t>
                      </a: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AF4F6"/>
                    </a:solidFill>
                  </a:tcPr>
                </a:tc>
                <a:tc>
                  <a:txBody>
                    <a:bodyPr/>
                    <a:lstStyle/>
                    <a:p>
                      <a:pPr marL="0" indent="0">
                        <a:buNone/>
                      </a:pPr>
                      <a:r>
                        <a:rPr lang="en-US" sz="700" dirty="0"/>
                        <a:t>Validates Nexline's sensor coverage plan (power, voltage, efficiency) and confirms DT as the integration layer</a:t>
                      </a: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AF4F6"/>
                    </a:solidFill>
                  </a:tcPr>
                </a:tc>
                <a:extLst>
                  <a:ext uri="{0D108BD9-81ED-4DB2-BD59-A6C34878D82A}">
                    <a16:rowId xmlns:a16="http://schemas.microsoft.com/office/drawing/2014/main" val="10004"/>
                  </a:ext>
                </a:extLst>
              </a:tr>
              <a:tr h="658368">
                <a:tc>
                  <a:txBody>
                    <a:bodyPr/>
                    <a:lstStyle/>
                    <a:p>
                      <a:pPr marL="0" indent="0" algn="ctr">
                        <a:buNone/>
                      </a:pPr>
                      <a:r>
                        <a:rPr lang="en-US" sz="700" b="1" dirty="0">
                          <a:solidFill>
                            <a:srgbClr val="028090"/>
                          </a:solidFill>
                        </a:rPr>
                        <a:t>15</a:t>
                      </a:r>
                      <a:endParaRPr lang="en-US" sz="7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700" u="sng" dirty="0">
                          <a:solidFill>
                            <a:srgbClr val="1D4ED8"/>
                          </a:solidFill>
                          <a:hlinkClick r:id="rId7">
                            <a:extLst>
                              <a:ext uri="{A12FA001-AC4F-418D-AE19-62706E023703}">
                                <ahyp:hlinkClr xmlns:ahyp="http://schemas.microsoft.com/office/drawing/2018/hyperlinkcolor" val="tx"/>
                              </a:ext>
                            </a:extLst>
                          </a:hlinkClick>
                        </a:rPr>
                        <a:t>Predictive Maintenance in 2026: AI Reduces Factory Downtime – iFactory</a:t>
                      </a:r>
                      <a:endParaRPr lang="en-US" sz="700" dirty="0"/>
                    </a:p>
                    <a:p>
                      <a:pPr marL="0" indent="0">
                        <a:buNone/>
                      </a:pPr>
                      <a:r>
                        <a:rPr lang="en-US" sz="700" u="sng" dirty="0">
                          <a:solidFill>
                            <a:srgbClr val="1D4ED8"/>
                          </a:solidFill>
                          <a:hlinkClick r:id="rId7">
                            <a:extLst>
                              <a:ext uri="{A12FA001-AC4F-418D-AE19-62706E023703}">
                                <ahyp:hlinkClr xmlns:ahyp="http://schemas.microsoft.com/office/drawing/2018/hyperlinkcolor" val="tx"/>
                              </a:ext>
                            </a:extLst>
                          </a:hlinkClick>
                        </a:rPr>
                        <a:t>ifactoryapp.com/blog/predictive-maintenance-2026-ai-factory-downtime</a:t>
                      </a:r>
                      <a:endParaRPr lang="en-US" sz="7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700" dirty="0"/>
                        <a:t>Comprehensive 2026 guide on AI-driven PdM: failure prediction, ROI metrics, implementation strategies</a:t>
                      </a: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700" dirty="0"/>
                        <a:t>AI failure forecasting, ML sensors, IIoT platforms, real-time analytics dashboards</a:t>
                      </a: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700" dirty="0"/>
                        <a:t>Siemens 2024 report: Fortune 500 lose $1.4T annually from unplanned outages (11% of revenues); automotive idle line costs $2.3M/hour</a:t>
                      </a: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700" dirty="0"/>
                        <a:t>Hour of unplanned downtime costs 50% more than in 2019 due to supply chain complexity and production demands</a:t>
                      </a: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700" dirty="0"/>
                        <a:t>Provides ROI benchmarks and urgency framing for Nexline's executive pitch on DT investment</a:t>
                      </a: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0B1F3A"/>
          </a:solidFill>
          <a:ln w="12700">
            <a:solidFill>
              <a:srgbClr val="0B1F3A"/>
            </a:solidFill>
            <a:prstDash val="solid"/>
          </a:ln>
        </p:spPr>
        <p:txBody>
          <a:bodyPr/>
          <a:lstStyle/>
          <a:p>
            <a:endParaRPr lang="en-US"/>
          </a:p>
        </p:txBody>
      </p:sp>
      <p:sp>
        <p:nvSpPr>
          <p:cNvPr id="3" name="Shape 1"/>
          <p:cNvSpPr/>
          <p:nvPr/>
        </p:nvSpPr>
        <p:spPr>
          <a:xfrm>
            <a:off x="0" y="685800"/>
            <a:ext cx="9144000" cy="73152"/>
          </a:xfrm>
          <a:prstGeom prst="rect">
            <a:avLst/>
          </a:prstGeom>
          <a:solidFill>
            <a:srgbClr val="028090"/>
          </a:solidFill>
          <a:ln w="12700">
            <a:solidFill>
              <a:srgbClr val="028090"/>
            </a:solidFill>
            <a:prstDash val="solid"/>
          </a:ln>
        </p:spPr>
        <p:txBody>
          <a:bodyPr/>
          <a:lstStyle/>
          <a:p>
            <a:endParaRPr lang="en-US"/>
          </a:p>
        </p:txBody>
      </p:sp>
      <p:sp>
        <p:nvSpPr>
          <p:cNvPr id="4" name="Shape 2"/>
          <p:cNvSpPr/>
          <p:nvPr/>
        </p:nvSpPr>
        <p:spPr>
          <a:xfrm>
            <a:off x="320040" y="109728"/>
            <a:ext cx="2377440" cy="384048"/>
          </a:xfrm>
          <a:prstGeom prst="roundRect">
            <a:avLst>
              <a:gd name="adj" fmla="val 19048"/>
            </a:avLst>
          </a:prstGeom>
          <a:solidFill>
            <a:srgbClr val="028090"/>
          </a:solidFill>
          <a:ln w="12700">
            <a:solidFill>
              <a:srgbClr val="028090"/>
            </a:solidFill>
            <a:prstDash val="solid"/>
          </a:ln>
        </p:spPr>
        <p:txBody>
          <a:bodyPr/>
          <a:lstStyle/>
          <a:p>
            <a:endParaRPr lang="en-US"/>
          </a:p>
        </p:txBody>
      </p:sp>
      <p:sp>
        <p:nvSpPr>
          <p:cNvPr id="5" name="Text 3"/>
          <p:cNvSpPr/>
          <p:nvPr/>
        </p:nvSpPr>
        <p:spPr>
          <a:xfrm>
            <a:off x="320040" y="109728"/>
            <a:ext cx="2377440" cy="384048"/>
          </a:xfrm>
          <a:prstGeom prst="rect">
            <a:avLst/>
          </a:prstGeom>
          <a:noFill/>
          <a:ln/>
        </p:spPr>
        <p:txBody>
          <a:bodyPr wrap="square" lIns="0" tIns="0" rIns="0" bIns="0" rtlCol="0" anchor="ctr"/>
          <a:lstStyle/>
          <a:p>
            <a:pPr marL="0" indent="0" algn="ctr">
              <a:buNone/>
            </a:pPr>
            <a:r>
              <a:rPr lang="en-US" sz="900" b="1" dirty="0">
                <a:solidFill>
                  <a:srgbClr val="FFFFFF"/>
                </a:solidFill>
              </a:rPr>
              <a:t>TRENDS, NEEDS &amp; RISKS</a:t>
            </a:r>
            <a:endParaRPr lang="en-US" sz="900" dirty="0"/>
          </a:p>
        </p:txBody>
      </p:sp>
      <p:sp>
        <p:nvSpPr>
          <p:cNvPr id="6" name="Text 4"/>
          <p:cNvSpPr/>
          <p:nvPr/>
        </p:nvSpPr>
        <p:spPr>
          <a:xfrm>
            <a:off x="2880360" y="82296"/>
            <a:ext cx="5943600" cy="502920"/>
          </a:xfrm>
          <a:prstGeom prst="rect">
            <a:avLst/>
          </a:prstGeom>
          <a:noFill/>
          <a:ln/>
        </p:spPr>
        <p:txBody>
          <a:bodyPr wrap="square" lIns="0" tIns="0" rIns="0" bIns="0" rtlCol="0" anchor="ctr"/>
          <a:lstStyle/>
          <a:p>
            <a:pPr marL="0" indent="0" algn="l">
              <a:buNone/>
            </a:pPr>
            <a:r>
              <a:rPr lang="en-US" sz="1600" b="1" dirty="0">
                <a:solidFill>
                  <a:srgbClr val="FFFFFF"/>
                </a:solidFill>
              </a:rPr>
              <a:t>2. Summarize Trends, Needs and Risks</a:t>
            </a:r>
            <a:endParaRPr lang="en-US" sz="1600" dirty="0"/>
          </a:p>
        </p:txBody>
      </p:sp>
      <p:sp>
        <p:nvSpPr>
          <p:cNvPr id="7" name="Text 5"/>
          <p:cNvSpPr/>
          <p:nvPr/>
        </p:nvSpPr>
        <p:spPr>
          <a:xfrm>
            <a:off x="320040" y="758952"/>
            <a:ext cx="8503920" cy="228600"/>
          </a:xfrm>
          <a:prstGeom prst="rect">
            <a:avLst/>
          </a:prstGeom>
          <a:noFill/>
          <a:ln/>
        </p:spPr>
        <p:txBody>
          <a:bodyPr wrap="square" lIns="0" tIns="0" rIns="0" bIns="0" rtlCol="0" anchor="ctr"/>
          <a:lstStyle/>
          <a:p>
            <a:pPr marL="0" indent="0" algn="l">
              <a:buNone/>
            </a:pPr>
            <a:r>
              <a:rPr lang="en-US" sz="850" i="1" dirty="0">
                <a:solidFill>
                  <a:srgbClr val="028090"/>
                </a:solidFill>
              </a:rPr>
              <a:t>Based on the research table — insights supported by source evidence</a:t>
            </a:r>
            <a:endParaRPr lang="en-US" sz="850" dirty="0"/>
          </a:p>
        </p:txBody>
      </p:sp>
      <p:sp>
        <p:nvSpPr>
          <p:cNvPr id="8" name="Shape 6"/>
          <p:cNvSpPr/>
          <p:nvPr/>
        </p:nvSpPr>
        <p:spPr>
          <a:xfrm>
            <a:off x="0" y="4919472"/>
            <a:ext cx="9144000" cy="224028"/>
          </a:xfrm>
          <a:prstGeom prst="rect">
            <a:avLst/>
          </a:prstGeom>
          <a:solidFill>
            <a:srgbClr val="0B1F3A"/>
          </a:solidFill>
          <a:ln w="12700">
            <a:solidFill>
              <a:srgbClr val="0B1F3A"/>
            </a:solidFill>
            <a:prstDash val="solid"/>
          </a:ln>
        </p:spPr>
        <p:txBody>
          <a:bodyPr/>
          <a:lstStyle/>
          <a:p>
            <a:endParaRPr lang="en-US"/>
          </a:p>
        </p:txBody>
      </p:sp>
      <p:sp>
        <p:nvSpPr>
          <p:cNvPr id="9" name="Text 7"/>
          <p:cNvSpPr/>
          <p:nvPr/>
        </p:nvSpPr>
        <p:spPr>
          <a:xfrm>
            <a:off x="274320" y="4919472"/>
            <a:ext cx="7315200" cy="224028"/>
          </a:xfrm>
          <a:prstGeom prst="rect">
            <a:avLst/>
          </a:prstGeom>
          <a:noFill/>
          <a:ln/>
        </p:spPr>
        <p:txBody>
          <a:bodyPr wrap="square" lIns="0" tIns="0" rIns="0" bIns="0" rtlCol="0" anchor="ctr"/>
          <a:lstStyle/>
          <a:p>
            <a:pPr marL="0" indent="0" algn="l">
              <a:buNone/>
            </a:pPr>
            <a:r>
              <a:rPr lang="en-US" sz="700" dirty="0">
                <a:solidFill>
                  <a:srgbClr val="FFFFFF"/>
                </a:solidFill>
              </a:rPr>
              <a:t>Nexline Manufacturing – Operational Optimization Project | Confidential</a:t>
            </a:r>
            <a:endParaRPr lang="en-US" sz="700" dirty="0"/>
          </a:p>
        </p:txBody>
      </p:sp>
      <p:sp>
        <p:nvSpPr>
          <p:cNvPr id="10" name="Text 8"/>
          <p:cNvSpPr/>
          <p:nvPr/>
        </p:nvSpPr>
        <p:spPr>
          <a:xfrm>
            <a:off x="8229600" y="4919472"/>
            <a:ext cx="640080" cy="224028"/>
          </a:xfrm>
          <a:prstGeom prst="rect">
            <a:avLst/>
          </a:prstGeom>
          <a:noFill/>
          <a:ln/>
        </p:spPr>
        <p:txBody>
          <a:bodyPr wrap="square" lIns="0" tIns="0" rIns="0" bIns="0" rtlCol="0" anchor="ctr"/>
          <a:lstStyle/>
          <a:p>
            <a:pPr marL="0" indent="0" algn="r">
              <a:buNone/>
            </a:pPr>
            <a:r>
              <a:rPr lang="en-US" sz="700" dirty="0">
                <a:solidFill>
                  <a:srgbClr val="FFFFFF"/>
                </a:solidFill>
              </a:rPr>
              <a:t>5</a:t>
            </a:r>
            <a:endParaRPr lang="en-US" sz="7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182880" y="1024128"/>
          <a:ext cx="8778240" cy="3840480"/>
        </p:xfrm>
        <a:graphic>
          <a:graphicData uri="http://schemas.openxmlformats.org/drawingml/2006/table">
            <a:tbl>
              <a:tblPr/>
              <a:tblGrid>
                <a:gridCol w="2194560">
                  <a:extLst>
                    <a:ext uri="{9D8B030D-6E8A-4147-A177-3AD203B41FA5}">
                      <a16:colId xmlns:a16="http://schemas.microsoft.com/office/drawing/2014/main" val="20000"/>
                    </a:ext>
                  </a:extLst>
                </a:gridCol>
                <a:gridCol w="3474720">
                  <a:extLst>
                    <a:ext uri="{9D8B030D-6E8A-4147-A177-3AD203B41FA5}">
                      <a16:colId xmlns:a16="http://schemas.microsoft.com/office/drawing/2014/main" val="20001"/>
                    </a:ext>
                  </a:extLst>
                </a:gridCol>
                <a:gridCol w="3108960">
                  <a:extLst>
                    <a:ext uri="{9D8B030D-6E8A-4147-A177-3AD203B41FA5}">
                      <a16:colId xmlns:a16="http://schemas.microsoft.com/office/drawing/2014/main" val="20002"/>
                    </a:ext>
                  </a:extLst>
                </a:gridCol>
              </a:tblGrid>
              <a:tr h="548640">
                <a:tc>
                  <a:txBody>
                    <a:bodyPr/>
                    <a:lstStyle/>
                    <a:p>
                      <a:pPr marL="0" indent="0">
                        <a:buNone/>
                      </a:pPr>
                      <a:r>
                        <a:rPr lang="en-US" sz="850" b="1" dirty="0">
                          <a:solidFill>
                            <a:srgbClr val="FFFFFF"/>
                          </a:solidFill>
                        </a:rPr>
                        <a:t>CATEGORY</a:t>
                      </a:r>
                      <a:endParaRPr lang="en-US" sz="850" dirty="0"/>
                    </a:p>
                    <a:p>
                      <a:pPr marL="0" indent="0">
                        <a:buNone/>
                      </a:pPr>
                      <a:r>
                        <a:rPr lang="en-US" sz="850" b="1" dirty="0">
                          <a:solidFill>
                            <a:srgbClr val="FFFFFF"/>
                          </a:solidFill>
                        </a:rPr>
                        <a:t>(Trend, Need, or Risk)</a:t>
                      </a:r>
                      <a:endParaRPr lang="en-US" sz="85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B1F3A"/>
                    </a:solidFill>
                  </a:tcPr>
                </a:tc>
                <a:tc>
                  <a:txBody>
                    <a:bodyPr/>
                    <a:lstStyle/>
                    <a:p>
                      <a:pPr marL="0" indent="0">
                        <a:buNone/>
                      </a:pPr>
                      <a:r>
                        <a:rPr lang="en-US" sz="850" b="1" dirty="0">
                          <a:solidFill>
                            <a:srgbClr val="FFFFFF"/>
                          </a:solidFill>
                        </a:rPr>
                        <a:t>INSIGHT</a:t>
                      </a:r>
                      <a:endParaRPr lang="en-US" sz="85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B1F3A"/>
                    </a:solidFill>
                  </a:tcPr>
                </a:tc>
                <a:tc>
                  <a:txBody>
                    <a:bodyPr/>
                    <a:lstStyle/>
                    <a:p>
                      <a:pPr marL="0" indent="0">
                        <a:buNone/>
                      </a:pPr>
                      <a:r>
                        <a:rPr lang="en-US" sz="850" b="1" dirty="0">
                          <a:solidFill>
                            <a:srgbClr val="FFFFFF"/>
                          </a:solidFill>
                        </a:rPr>
                        <a:t>EVIDENCE</a:t>
                      </a:r>
                      <a:endParaRPr lang="en-US" sz="850" dirty="0"/>
                    </a:p>
                    <a:p>
                      <a:pPr marL="0" indent="0">
                        <a:buNone/>
                      </a:pPr>
                      <a:r>
                        <a:rPr lang="en-US" sz="850" b="1" dirty="0">
                          <a:solidFill>
                            <a:srgbClr val="FFFFFF"/>
                          </a:solidFill>
                        </a:rPr>
                        <a:t>(Source quote, title or key phrase)</a:t>
                      </a:r>
                      <a:endParaRPr lang="en-US" sz="85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B1F3A"/>
                    </a:solidFill>
                  </a:tcPr>
                </a:tc>
                <a:extLst>
                  <a:ext uri="{0D108BD9-81ED-4DB2-BD59-A6C34878D82A}">
                    <a16:rowId xmlns:a16="http://schemas.microsoft.com/office/drawing/2014/main" val="10000"/>
                  </a:ext>
                </a:extLst>
              </a:tr>
              <a:tr h="548640">
                <a:tc>
                  <a:txBody>
                    <a:bodyPr/>
                    <a:lstStyle/>
                    <a:p>
                      <a:pPr marL="0" indent="0">
                        <a:buNone/>
                      </a:pPr>
                      <a:r>
                        <a:rPr lang="en-US" sz="800" b="1" dirty="0">
                          <a:solidFill>
                            <a:srgbClr val="1E3A5F"/>
                          </a:solidFill>
                        </a:rPr>
                        <a:t>🔵  TREND: Rapid Digital Twin Adoption in Manufacturing</a:t>
                      </a:r>
                      <a:endParaRPr lang="en-US" sz="8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750" dirty="0">
                          <a:solidFill>
                            <a:srgbClr val="000000"/>
                          </a:solidFill>
                        </a:rPr>
                        <a:t>Digital twin technology is experiencing explosive growth in industrial manufacturing. Aerospace and automotive sectors are primary adopters, driven by the need for real-time simulation, failure prevention, and operational optimization.</a:t>
                      </a:r>
                      <a:endParaRPr lang="en-US" sz="75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750" i="1" dirty="0">
                          <a:solidFill>
                            <a:srgbClr val="64748B"/>
                          </a:solidFill>
                        </a:rPr>
                        <a:t>"Global digital twin market grows from $21.14B (2025) to $149.81B (2030) at 47.9% CAGR"</a:t>
                      </a:r>
                      <a:endParaRPr lang="en-US" sz="750" dirty="0"/>
                    </a:p>
                    <a:p>
                      <a:pPr marL="0" indent="0">
                        <a:buNone/>
                      </a:pPr>
                      <a:r>
                        <a:rPr lang="en-US" sz="750" i="1" dirty="0">
                          <a:solidFill>
                            <a:srgbClr val="64748B"/>
                          </a:solidFill>
                        </a:rPr>
                        <a:t>— MarketsandMarkets Digital Twin Market Report 2025–2030</a:t>
                      </a:r>
                      <a:endParaRPr lang="en-US" sz="75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1"/>
                  </a:ext>
                </a:extLst>
              </a:tr>
              <a:tr h="548640">
                <a:tc>
                  <a:txBody>
                    <a:bodyPr/>
                    <a:lstStyle/>
                    <a:p>
                      <a:pPr marL="0" indent="0">
                        <a:buNone/>
                      </a:pPr>
                      <a:r>
                        <a:rPr lang="en-US" sz="800" b="1" dirty="0">
                          <a:solidFill>
                            <a:srgbClr val="1E3A5F"/>
                          </a:solidFill>
                        </a:rPr>
                        <a:t>🔵  TREND: Shift from Reactive to Predictive Maintenance</a:t>
                      </a:r>
                      <a:endParaRPr lang="en-US" sz="8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AF4F6"/>
                    </a:solidFill>
                  </a:tcPr>
                </a:tc>
                <a:tc>
                  <a:txBody>
                    <a:bodyPr/>
                    <a:lstStyle/>
                    <a:p>
                      <a:pPr marL="0" indent="0">
                        <a:buNone/>
                      </a:pPr>
                      <a:r>
                        <a:rPr lang="en-US" sz="750" dirty="0">
                          <a:solidFill>
                            <a:srgbClr val="000000"/>
                          </a:solidFill>
                        </a:rPr>
                        <a:t>Manufacturers are abandoning time-based maintenance schedules in favor of AI/ML-driven predictive models. Early adopters report significant reductions in emergency downtime and maintenance budgets.</a:t>
                      </a:r>
                      <a:endParaRPr lang="en-US" sz="75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AF4F6"/>
                    </a:solidFill>
                  </a:tcPr>
                </a:tc>
                <a:tc>
                  <a:txBody>
                    <a:bodyPr/>
                    <a:lstStyle/>
                    <a:p>
                      <a:pPr marL="0" indent="0">
                        <a:buNone/>
                      </a:pPr>
                      <a:r>
                        <a:rPr lang="en-US" sz="750" i="1" dirty="0">
                          <a:solidFill>
                            <a:srgbClr val="64748B"/>
                          </a:solidFill>
                        </a:rPr>
                        <a:t>"Predictive maintenance reduces maintenance costs by 18–25% and unplanned downtime by up to 50%"</a:t>
                      </a:r>
                      <a:endParaRPr lang="en-US" sz="750" dirty="0"/>
                    </a:p>
                    <a:p>
                      <a:pPr marL="0" indent="0">
                        <a:buNone/>
                      </a:pPr>
                      <a:r>
                        <a:rPr lang="en-US" sz="750" i="1" dirty="0">
                          <a:solidFill>
                            <a:srgbClr val="64748B"/>
                          </a:solidFill>
                        </a:rPr>
                        <a:t>— McKinsey &amp; Company, cited in IIoT World 2025</a:t>
                      </a:r>
                      <a:endParaRPr lang="en-US" sz="75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AF4F6"/>
                    </a:solidFill>
                  </a:tcPr>
                </a:tc>
                <a:extLst>
                  <a:ext uri="{0D108BD9-81ED-4DB2-BD59-A6C34878D82A}">
                    <a16:rowId xmlns:a16="http://schemas.microsoft.com/office/drawing/2014/main" val="10002"/>
                  </a:ext>
                </a:extLst>
              </a:tr>
              <a:tr h="548640">
                <a:tc>
                  <a:txBody>
                    <a:bodyPr/>
                    <a:lstStyle/>
                    <a:p>
                      <a:pPr marL="0" indent="0">
                        <a:buNone/>
                      </a:pPr>
                      <a:r>
                        <a:rPr lang="en-US" sz="800" b="1" dirty="0">
                          <a:solidFill>
                            <a:srgbClr val="7C3200"/>
                          </a:solidFill>
                        </a:rPr>
                        <a:t>🟠  NEED: Unified, Real-Time Factory Monitoring System</a:t>
                      </a:r>
                      <a:endParaRPr lang="en-US" sz="8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750" dirty="0">
                          <a:solidFill>
                            <a:srgbClr val="000000"/>
                          </a:solidFill>
                        </a:rPr>
                        <a:t>Manufacturers urgently need centralized dashboards that aggregate sensor data from all machines into a single operational view. Fragmented monitoring creates blind spots and delayed responses to production anomalies.</a:t>
                      </a:r>
                      <a:endParaRPr lang="en-US" sz="75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750" i="1" dirty="0">
                          <a:solidFill>
                            <a:srgbClr val="64748B"/>
                          </a:solidFill>
                        </a:rPr>
                        <a:t>"Without constant synchronization and data analysis, the digital twin would quickly become outdated and lose its predictive value"</a:t>
                      </a:r>
                      <a:endParaRPr lang="en-US" sz="750" dirty="0"/>
                    </a:p>
                    <a:p>
                      <a:pPr marL="0" indent="0">
                        <a:buNone/>
                      </a:pPr>
                      <a:r>
                        <a:rPr lang="en-US" sz="750" i="1" dirty="0">
                          <a:solidFill>
                            <a:srgbClr val="64748B"/>
                          </a:solidFill>
                        </a:rPr>
                        <a:t>— Emerline Digital Twin Guide, 2025</a:t>
                      </a:r>
                      <a:endParaRPr lang="en-US" sz="75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3"/>
                  </a:ext>
                </a:extLst>
              </a:tr>
              <a:tr h="548640">
                <a:tc>
                  <a:txBody>
                    <a:bodyPr/>
                    <a:lstStyle/>
                    <a:p>
                      <a:pPr marL="0" indent="0">
                        <a:buNone/>
                      </a:pPr>
                      <a:r>
                        <a:rPr lang="en-US" sz="800" b="1" dirty="0">
                          <a:solidFill>
                            <a:srgbClr val="7C3200"/>
                          </a:solidFill>
                        </a:rPr>
                        <a:t>🟠  NEED: IoT Energy Visibility at Process Level</a:t>
                      </a:r>
                      <a:endParaRPr lang="en-US" sz="8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AF4F6"/>
                    </a:solidFill>
                  </a:tcPr>
                </a:tc>
                <a:tc>
                  <a:txBody>
                    <a:bodyPr/>
                    <a:lstStyle/>
                    <a:p>
                      <a:pPr marL="0" indent="0">
                        <a:buNone/>
                      </a:pPr>
                      <a:r>
                        <a:rPr lang="en-US" sz="750" dirty="0">
                          <a:solidFill>
                            <a:srgbClr val="000000"/>
                          </a:solidFill>
                        </a:rPr>
                        <a:t>Energy monitoring must be granular — line-by-line, machine-by-machine. General utility bills reveal no actionable root causes. IoT submetering provides the transparency needed to identify which production lines consume disproportionate energy.</a:t>
                      </a:r>
                      <a:endParaRPr lang="en-US" sz="75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AF4F6"/>
                    </a:solidFill>
                  </a:tcPr>
                </a:tc>
                <a:tc>
                  <a:txBody>
                    <a:bodyPr/>
                    <a:lstStyle/>
                    <a:p>
                      <a:pPr marL="0" indent="0">
                        <a:buNone/>
                      </a:pPr>
                      <a:r>
                        <a:rPr lang="en-US" sz="750" i="1" dirty="0">
                          <a:solidFill>
                            <a:srgbClr val="64748B"/>
                          </a:solidFill>
                        </a:rPr>
                        <a:t>"IoT energy monitoring systems can reduce energy costs by up to 20%"</a:t>
                      </a:r>
                      <a:endParaRPr lang="en-US" sz="750" dirty="0"/>
                    </a:p>
                    <a:p>
                      <a:pPr marL="0" indent="0">
                        <a:buNone/>
                      </a:pPr>
                      <a:r>
                        <a:rPr lang="en-US" sz="750" i="1" dirty="0">
                          <a:solidFill>
                            <a:srgbClr val="64748B"/>
                          </a:solidFill>
                        </a:rPr>
                        <a:t>— IoT-Enhanced Energy Management Strategies, The Science Brigade 2024</a:t>
                      </a:r>
                      <a:endParaRPr lang="en-US" sz="75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AF4F6"/>
                    </a:solidFill>
                  </a:tcPr>
                </a:tc>
                <a:extLst>
                  <a:ext uri="{0D108BD9-81ED-4DB2-BD59-A6C34878D82A}">
                    <a16:rowId xmlns:a16="http://schemas.microsoft.com/office/drawing/2014/main" val="10004"/>
                  </a:ext>
                </a:extLst>
              </a:tr>
              <a:tr h="548640">
                <a:tc>
                  <a:txBody>
                    <a:bodyPr/>
                    <a:lstStyle/>
                    <a:p>
                      <a:pPr marL="0" indent="0">
                        <a:buNone/>
                      </a:pPr>
                      <a:r>
                        <a:rPr lang="en-US" sz="800" b="1" dirty="0">
                          <a:solidFill>
                            <a:srgbClr val="7C0000"/>
                          </a:solidFill>
                        </a:rPr>
                        <a:t>🔴  RISK: Cybersecurity Vulnerabilities in IIoT + DT Systems</a:t>
                      </a:r>
                      <a:endParaRPr lang="en-US" sz="8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750" dirty="0">
                          <a:solidFill>
                            <a:srgbClr val="000000"/>
                          </a:solidFill>
                        </a:rPr>
                        <a:t>Connecting physical machines to virtual digital twins over IIoT networks exponentially increases the attack surface. Adversarial attacks on ML prediction models and unauthorized OT access are major threats that must be addressed in governance policies.</a:t>
                      </a:r>
                      <a:endParaRPr lang="en-US" sz="75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750" i="1" dirty="0">
                          <a:solidFill>
                            <a:srgbClr val="64748B"/>
                          </a:solidFill>
                        </a:rPr>
                        <a:t>"DT integration of CPS, IIoT, and ML introduces numerous security and privacy vulnerabilities"</a:t>
                      </a:r>
                      <a:endParaRPr lang="en-US" sz="750" dirty="0"/>
                    </a:p>
                    <a:p>
                      <a:pPr marL="0" indent="0">
                        <a:buNone/>
                      </a:pPr>
                      <a:r>
                        <a:rPr lang="en-US" sz="750" i="1" dirty="0">
                          <a:solidFill>
                            <a:srgbClr val="64748B"/>
                          </a:solidFill>
                        </a:rPr>
                        <a:t>— Security and Privacy of Digital Twins for Advanced Manufacturing, arXiv 2024</a:t>
                      </a:r>
                      <a:endParaRPr lang="en-US" sz="75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5"/>
                  </a:ext>
                </a:extLst>
              </a:tr>
              <a:tr h="548640">
                <a:tc>
                  <a:txBody>
                    <a:bodyPr/>
                    <a:lstStyle/>
                    <a:p>
                      <a:pPr marL="0" indent="0">
                        <a:buNone/>
                      </a:pPr>
                      <a:r>
                        <a:rPr lang="en-US" sz="800" b="1" dirty="0">
                          <a:solidFill>
                            <a:srgbClr val="7C0000"/>
                          </a:solidFill>
                        </a:rPr>
                        <a:t>🔴  RISK: Data Quality &amp; Legacy System Integration Failure</a:t>
                      </a:r>
                      <a:endParaRPr lang="en-US" sz="8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AF4F6"/>
                    </a:solidFill>
                  </a:tcPr>
                </a:tc>
                <a:tc>
                  <a:txBody>
                    <a:bodyPr/>
                    <a:lstStyle/>
                    <a:p>
                      <a:pPr marL="0" indent="0">
                        <a:buNone/>
                      </a:pPr>
                      <a:r>
                        <a:rPr lang="en-US" sz="750" dirty="0">
                          <a:solidFill>
                            <a:srgbClr val="000000"/>
                          </a:solidFill>
                        </a:rPr>
                        <a:t>Poor data quality is cited as the #1 project killer in predictive maintenance deployments. Legacy CNC machines without OPC UA or Modbus capability cannot natively feed data to modern IIoT platforms, creating integration gaps.</a:t>
                      </a:r>
                      <a:endParaRPr lang="en-US" sz="75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AF4F6"/>
                    </a:solidFill>
                  </a:tcPr>
                </a:tc>
                <a:tc>
                  <a:txBody>
                    <a:bodyPr/>
                    <a:lstStyle/>
                    <a:p>
                      <a:pPr marL="0" indent="0">
                        <a:buNone/>
                      </a:pPr>
                      <a:r>
                        <a:rPr lang="en-US" sz="750" i="1" dirty="0">
                          <a:solidFill>
                            <a:srgbClr val="64748B"/>
                          </a:solidFill>
                        </a:rPr>
                        <a:t>"Dirty data remains the #1 project killer; successful programs allocate 25% of budget to data cleansing"</a:t>
                      </a:r>
                      <a:endParaRPr lang="en-US" sz="750" dirty="0"/>
                    </a:p>
                    <a:p>
                      <a:pPr marL="0" indent="0">
                        <a:buNone/>
                      </a:pPr>
                      <a:r>
                        <a:rPr lang="en-US" sz="750" i="1" dirty="0">
                          <a:solidFill>
                            <a:srgbClr val="64748B"/>
                          </a:solidFill>
                        </a:rPr>
                        <a:t>— 2025 Top Maintenance Trends, OxMaint (citing Deloitte 2024)</a:t>
                      </a:r>
                      <a:endParaRPr lang="en-US" sz="75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AF4F6"/>
                    </a:solidFill>
                  </a:tcPr>
                </a:tc>
                <a:extLst>
                  <a:ext uri="{0D108BD9-81ED-4DB2-BD59-A6C34878D82A}">
                    <a16:rowId xmlns:a16="http://schemas.microsoft.com/office/drawing/2014/main" val="10006"/>
                  </a:ext>
                </a:extLst>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F8FB"/>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0B1F3A"/>
          </a:solidFill>
          <a:ln w="12700">
            <a:solidFill>
              <a:srgbClr val="0B1F3A"/>
            </a:solidFill>
            <a:prstDash val="solid"/>
          </a:ln>
        </p:spPr>
        <p:txBody>
          <a:bodyPr/>
          <a:lstStyle/>
          <a:p>
            <a:endParaRPr lang="en-US"/>
          </a:p>
        </p:txBody>
      </p:sp>
      <p:sp>
        <p:nvSpPr>
          <p:cNvPr id="3" name="Shape 1"/>
          <p:cNvSpPr/>
          <p:nvPr/>
        </p:nvSpPr>
        <p:spPr>
          <a:xfrm>
            <a:off x="0" y="685800"/>
            <a:ext cx="9144000" cy="73152"/>
          </a:xfrm>
          <a:prstGeom prst="rect">
            <a:avLst/>
          </a:prstGeom>
          <a:solidFill>
            <a:srgbClr val="028090"/>
          </a:solidFill>
          <a:ln w="12700">
            <a:solidFill>
              <a:srgbClr val="028090"/>
            </a:solidFill>
            <a:prstDash val="solid"/>
          </a:ln>
        </p:spPr>
        <p:txBody>
          <a:bodyPr/>
          <a:lstStyle/>
          <a:p>
            <a:endParaRPr lang="en-US"/>
          </a:p>
        </p:txBody>
      </p:sp>
      <p:sp>
        <p:nvSpPr>
          <p:cNvPr id="4" name="Shape 2"/>
          <p:cNvSpPr/>
          <p:nvPr/>
        </p:nvSpPr>
        <p:spPr>
          <a:xfrm>
            <a:off x="320040" y="109728"/>
            <a:ext cx="1645920" cy="384048"/>
          </a:xfrm>
          <a:prstGeom prst="roundRect">
            <a:avLst>
              <a:gd name="adj" fmla="val 19048"/>
            </a:avLst>
          </a:prstGeom>
          <a:solidFill>
            <a:srgbClr val="028090"/>
          </a:solidFill>
          <a:ln w="12700">
            <a:solidFill>
              <a:srgbClr val="028090"/>
            </a:solidFill>
            <a:prstDash val="solid"/>
          </a:ln>
        </p:spPr>
        <p:txBody>
          <a:bodyPr/>
          <a:lstStyle/>
          <a:p>
            <a:endParaRPr lang="en-US"/>
          </a:p>
        </p:txBody>
      </p:sp>
      <p:sp>
        <p:nvSpPr>
          <p:cNvPr id="5" name="Text 3"/>
          <p:cNvSpPr/>
          <p:nvPr/>
        </p:nvSpPr>
        <p:spPr>
          <a:xfrm>
            <a:off x="320040" y="109728"/>
            <a:ext cx="1645920" cy="384048"/>
          </a:xfrm>
          <a:prstGeom prst="rect">
            <a:avLst/>
          </a:prstGeom>
          <a:noFill/>
          <a:ln/>
        </p:spPr>
        <p:txBody>
          <a:bodyPr wrap="square" lIns="0" tIns="0" rIns="0" bIns="0" rtlCol="0" anchor="ctr"/>
          <a:lstStyle/>
          <a:p>
            <a:pPr marL="0" indent="0" algn="ctr">
              <a:buNone/>
            </a:pPr>
            <a:r>
              <a:rPr lang="en-US" sz="900" b="1" dirty="0">
                <a:solidFill>
                  <a:srgbClr val="FFFFFF"/>
                </a:solidFill>
              </a:rPr>
              <a:t>INSIGHTS SUMMARY</a:t>
            </a:r>
            <a:endParaRPr lang="en-US" sz="900" dirty="0"/>
          </a:p>
        </p:txBody>
      </p:sp>
      <p:sp>
        <p:nvSpPr>
          <p:cNvPr id="6" name="Text 4"/>
          <p:cNvSpPr/>
          <p:nvPr/>
        </p:nvSpPr>
        <p:spPr>
          <a:xfrm>
            <a:off x="2148840" y="82296"/>
            <a:ext cx="6675120" cy="502920"/>
          </a:xfrm>
          <a:prstGeom prst="rect">
            <a:avLst/>
          </a:prstGeom>
          <a:noFill/>
          <a:ln/>
        </p:spPr>
        <p:txBody>
          <a:bodyPr wrap="square" lIns="0" tIns="0" rIns="0" bIns="0" rtlCol="0" anchor="ctr"/>
          <a:lstStyle/>
          <a:p>
            <a:pPr marL="0" indent="0" algn="l">
              <a:buNone/>
            </a:pPr>
            <a:r>
              <a:rPr lang="en-US" sz="1600" b="1" dirty="0">
                <a:solidFill>
                  <a:srgbClr val="FFFFFF"/>
                </a:solidFill>
              </a:rPr>
              <a:t>3. Key Research Insights</a:t>
            </a:r>
            <a:endParaRPr lang="en-US" sz="1600" dirty="0"/>
          </a:p>
        </p:txBody>
      </p:sp>
      <p:sp>
        <p:nvSpPr>
          <p:cNvPr id="7" name="Shape 5"/>
          <p:cNvSpPr/>
          <p:nvPr/>
        </p:nvSpPr>
        <p:spPr>
          <a:xfrm>
            <a:off x="0" y="4919472"/>
            <a:ext cx="9144000" cy="224028"/>
          </a:xfrm>
          <a:prstGeom prst="rect">
            <a:avLst/>
          </a:prstGeom>
          <a:solidFill>
            <a:srgbClr val="0B1F3A"/>
          </a:solidFill>
          <a:ln w="12700">
            <a:solidFill>
              <a:srgbClr val="0B1F3A"/>
            </a:solidFill>
            <a:prstDash val="solid"/>
          </a:ln>
        </p:spPr>
        <p:txBody>
          <a:bodyPr/>
          <a:lstStyle/>
          <a:p>
            <a:endParaRPr lang="en-US"/>
          </a:p>
        </p:txBody>
      </p:sp>
      <p:sp>
        <p:nvSpPr>
          <p:cNvPr id="8" name="Text 6"/>
          <p:cNvSpPr/>
          <p:nvPr/>
        </p:nvSpPr>
        <p:spPr>
          <a:xfrm>
            <a:off x="274320" y="4919472"/>
            <a:ext cx="7315200" cy="224028"/>
          </a:xfrm>
          <a:prstGeom prst="rect">
            <a:avLst/>
          </a:prstGeom>
          <a:noFill/>
          <a:ln/>
        </p:spPr>
        <p:txBody>
          <a:bodyPr wrap="square" lIns="0" tIns="0" rIns="0" bIns="0" rtlCol="0" anchor="ctr"/>
          <a:lstStyle/>
          <a:p>
            <a:pPr marL="0" indent="0" algn="l">
              <a:buNone/>
            </a:pPr>
            <a:r>
              <a:rPr lang="en-US" sz="700" dirty="0">
                <a:solidFill>
                  <a:srgbClr val="FFFFFF"/>
                </a:solidFill>
              </a:rPr>
              <a:t>Nexline Manufacturing – Operational Optimization Project | Confidential</a:t>
            </a:r>
            <a:endParaRPr lang="en-US" sz="700" dirty="0"/>
          </a:p>
        </p:txBody>
      </p:sp>
      <p:sp>
        <p:nvSpPr>
          <p:cNvPr id="9" name="Text 7"/>
          <p:cNvSpPr/>
          <p:nvPr/>
        </p:nvSpPr>
        <p:spPr>
          <a:xfrm>
            <a:off x="8229600" y="4919472"/>
            <a:ext cx="640080" cy="224028"/>
          </a:xfrm>
          <a:prstGeom prst="rect">
            <a:avLst/>
          </a:prstGeom>
          <a:noFill/>
          <a:ln/>
        </p:spPr>
        <p:txBody>
          <a:bodyPr wrap="square" lIns="0" tIns="0" rIns="0" bIns="0" rtlCol="0" anchor="ctr"/>
          <a:lstStyle/>
          <a:p>
            <a:pPr marL="0" indent="0" algn="r">
              <a:buNone/>
            </a:pPr>
            <a:r>
              <a:rPr lang="en-US" sz="700" dirty="0">
                <a:solidFill>
                  <a:srgbClr val="FFFFFF"/>
                </a:solidFill>
              </a:rPr>
              <a:t>6</a:t>
            </a:r>
            <a:endParaRPr lang="en-US" sz="700" dirty="0"/>
          </a:p>
        </p:txBody>
      </p:sp>
      <p:sp>
        <p:nvSpPr>
          <p:cNvPr id="10" name="Shape 8"/>
          <p:cNvSpPr/>
          <p:nvPr/>
        </p:nvSpPr>
        <p:spPr>
          <a:xfrm>
            <a:off x="228600" y="868680"/>
            <a:ext cx="2057400" cy="1188720"/>
          </a:xfrm>
          <a:prstGeom prst="rect">
            <a:avLst/>
          </a:prstGeom>
          <a:solidFill>
            <a:srgbClr val="0B1F3A"/>
          </a:solidFill>
          <a:ln w="12700">
            <a:solidFill>
              <a:srgbClr val="0B1F3A"/>
            </a:solidFill>
            <a:prstDash val="solid"/>
          </a:ln>
          <a:effectLst>
            <a:outerShdw blurRad="101600" dist="38100" dir="8100000" algn="bl" rotWithShape="0">
              <a:srgbClr val="000000">
                <a:alpha val="15000"/>
              </a:srgbClr>
            </a:outerShdw>
          </a:effectLst>
        </p:spPr>
        <p:txBody>
          <a:bodyPr/>
          <a:lstStyle/>
          <a:p>
            <a:endParaRPr lang="en-US"/>
          </a:p>
        </p:txBody>
      </p:sp>
      <p:sp>
        <p:nvSpPr>
          <p:cNvPr id="11" name="Text 9"/>
          <p:cNvSpPr/>
          <p:nvPr/>
        </p:nvSpPr>
        <p:spPr>
          <a:xfrm>
            <a:off x="228600" y="896112"/>
            <a:ext cx="2057400" cy="658368"/>
          </a:xfrm>
          <a:prstGeom prst="rect">
            <a:avLst/>
          </a:prstGeom>
          <a:noFill/>
          <a:ln/>
        </p:spPr>
        <p:txBody>
          <a:bodyPr wrap="square" lIns="0" tIns="0" rIns="0" bIns="0" rtlCol="0" anchor="ctr"/>
          <a:lstStyle/>
          <a:p>
            <a:pPr marL="0" indent="0" algn="ctr">
              <a:buNone/>
            </a:pPr>
            <a:r>
              <a:rPr lang="en-US" sz="3000" b="1" dirty="0">
                <a:solidFill>
                  <a:srgbClr val="02C39A"/>
                </a:solidFill>
              </a:rPr>
              <a:t>$50B</a:t>
            </a:r>
            <a:endParaRPr lang="en-US" sz="3000" dirty="0"/>
          </a:p>
        </p:txBody>
      </p:sp>
      <p:sp>
        <p:nvSpPr>
          <p:cNvPr id="12" name="Text 10"/>
          <p:cNvSpPr/>
          <p:nvPr/>
        </p:nvSpPr>
        <p:spPr>
          <a:xfrm>
            <a:off x="228600" y="1536192"/>
            <a:ext cx="2057400" cy="493776"/>
          </a:xfrm>
          <a:prstGeom prst="rect">
            <a:avLst/>
          </a:prstGeom>
          <a:noFill/>
          <a:ln/>
        </p:spPr>
        <p:txBody>
          <a:bodyPr wrap="square" lIns="0" tIns="0" rIns="0" bIns="0" rtlCol="0" anchor="ctr"/>
          <a:lstStyle/>
          <a:p>
            <a:pPr marL="0" indent="0" algn="ctr">
              <a:buNone/>
            </a:pPr>
            <a:r>
              <a:rPr lang="en-US" sz="800" dirty="0">
                <a:solidFill>
                  <a:srgbClr val="9ECDD6"/>
                </a:solidFill>
              </a:rPr>
              <a:t>Annual cost of unplanned</a:t>
            </a:r>
            <a:endParaRPr lang="en-US" sz="800" dirty="0"/>
          </a:p>
          <a:p>
            <a:pPr marL="0" indent="0" algn="ctr">
              <a:buNone/>
            </a:pPr>
            <a:r>
              <a:rPr lang="en-US" sz="800" dirty="0">
                <a:solidFill>
                  <a:srgbClr val="9ECDD6"/>
                </a:solidFill>
              </a:rPr>
              <a:t>downtime (McKinsey)</a:t>
            </a:r>
            <a:endParaRPr lang="en-US" sz="800" dirty="0"/>
          </a:p>
        </p:txBody>
      </p:sp>
      <p:sp>
        <p:nvSpPr>
          <p:cNvPr id="13" name="Shape 11"/>
          <p:cNvSpPr/>
          <p:nvPr/>
        </p:nvSpPr>
        <p:spPr>
          <a:xfrm>
            <a:off x="2468880" y="868680"/>
            <a:ext cx="2057400" cy="1188720"/>
          </a:xfrm>
          <a:prstGeom prst="rect">
            <a:avLst/>
          </a:prstGeom>
          <a:solidFill>
            <a:srgbClr val="0B1F3A"/>
          </a:solidFill>
          <a:ln w="12700">
            <a:solidFill>
              <a:srgbClr val="0B1F3A"/>
            </a:solidFill>
            <a:prstDash val="solid"/>
          </a:ln>
          <a:effectLst>
            <a:outerShdw blurRad="101600" dist="38100" dir="8100000" algn="bl" rotWithShape="0">
              <a:srgbClr val="000000">
                <a:alpha val="15000"/>
              </a:srgbClr>
            </a:outerShdw>
          </a:effectLst>
        </p:spPr>
        <p:txBody>
          <a:bodyPr/>
          <a:lstStyle/>
          <a:p>
            <a:endParaRPr lang="en-US"/>
          </a:p>
        </p:txBody>
      </p:sp>
      <p:sp>
        <p:nvSpPr>
          <p:cNvPr id="14" name="Text 12"/>
          <p:cNvSpPr/>
          <p:nvPr/>
        </p:nvSpPr>
        <p:spPr>
          <a:xfrm>
            <a:off x="2468880" y="896112"/>
            <a:ext cx="2057400" cy="658368"/>
          </a:xfrm>
          <a:prstGeom prst="rect">
            <a:avLst/>
          </a:prstGeom>
          <a:noFill/>
          <a:ln/>
        </p:spPr>
        <p:txBody>
          <a:bodyPr wrap="square" lIns="0" tIns="0" rIns="0" bIns="0" rtlCol="0" anchor="ctr"/>
          <a:lstStyle/>
          <a:p>
            <a:pPr marL="0" indent="0" algn="ctr">
              <a:buNone/>
            </a:pPr>
            <a:r>
              <a:rPr lang="en-US" sz="3000" b="1" dirty="0">
                <a:solidFill>
                  <a:srgbClr val="02C39A"/>
                </a:solidFill>
              </a:rPr>
              <a:t>50%</a:t>
            </a:r>
            <a:endParaRPr lang="en-US" sz="3000" dirty="0"/>
          </a:p>
        </p:txBody>
      </p:sp>
      <p:sp>
        <p:nvSpPr>
          <p:cNvPr id="15" name="Text 13"/>
          <p:cNvSpPr/>
          <p:nvPr/>
        </p:nvSpPr>
        <p:spPr>
          <a:xfrm>
            <a:off x="2468880" y="1536192"/>
            <a:ext cx="2057400" cy="493776"/>
          </a:xfrm>
          <a:prstGeom prst="rect">
            <a:avLst/>
          </a:prstGeom>
          <a:noFill/>
          <a:ln/>
        </p:spPr>
        <p:txBody>
          <a:bodyPr wrap="square" lIns="0" tIns="0" rIns="0" bIns="0" rtlCol="0" anchor="ctr"/>
          <a:lstStyle/>
          <a:p>
            <a:pPr marL="0" indent="0" algn="ctr">
              <a:buNone/>
            </a:pPr>
            <a:r>
              <a:rPr lang="en-US" sz="800" dirty="0">
                <a:solidFill>
                  <a:srgbClr val="9ECDD6"/>
                </a:solidFill>
              </a:rPr>
              <a:t>Max downtime reduction</a:t>
            </a:r>
            <a:endParaRPr lang="en-US" sz="800" dirty="0"/>
          </a:p>
          <a:p>
            <a:pPr marL="0" indent="0" algn="ctr">
              <a:buNone/>
            </a:pPr>
            <a:r>
              <a:rPr lang="en-US" sz="800" dirty="0">
                <a:solidFill>
                  <a:srgbClr val="9ECDD6"/>
                </a:solidFill>
              </a:rPr>
              <a:t>with predictive maintenance</a:t>
            </a:r>
            <a:endParaRPr lang="en-US" sz="800" dirty="0"/>
          </a:p>
        </p:txBody>
      </p:sp>
      <p:sp>
        <p:nvSpPr>
          <p:cNvPr id="16" name="Shape 14"/>
          <p:cNvSpPr/>
          <p:nvPr/>
        </p:nvSpPr>
        <p:spPr>
          <a:xfrm>
            <a:off x="4709160" y="868680"/>
            <a:ext cx="2057400" cy="1188720"/>
          </a:xfrm>
          <a:prstGeom prst="rect">
            <a:avLst/>
          </a:prstGeom>
          <a:solidFill>
            <a:srgbClr val="0B1F3A"/>
          </a:solidFill>
          <a:ln w="12700">
            <a:solidFill>
              <a:srgbClr val="0B1F3A"/>
            </a:solidFill>
            <a:prstDash val="solid"/>
          </a:ln>
          <a:effectLst>
            <a:outerShdw blurRad="101600" dist="38100" dir="8100000" algn="bl" rotWithShape="0">
              <a:srgbClr val="000000">
                <a:alpha val="15000"/>
              </a:srgbClr>
            </a:outerShdw>
          </a:effectLst>
        </p:spPr>
        <p:txBody>
          <a:bodyPr/>
          <a:lstStyle/>
          <a:p>
            <a:endParaRPr lang="en-US"/>
          </a:p>
        </p:txBody>
      </p:sp>
      <p:sp>
        <p:nvSpPr>
          <p:cNvPr id="17" name="Text 15"/>
          <p:cNvSpPr/>
          <p:nvPr/>
        </p:nvSpPr>
        <p:spPr>
          <a:xfrm>
            <a:off x="4709160" y="896112"/>
            <a:ext cx="2057400" cy="658368"/>
          </a:xfrm>
          <a:prstGeom prst="rect">
            <a:avLst/>
          </a:prstGeom>
          <a:noFill/>
          <a:ln/>
        </p:spPr>
        <p:txBody>
          <a:bodyPr wrap="square" lIns="0" tIns="0" rIns="0" bIns="0" rtlCol="0" anchor="ctr"/>
          <a:lstStyle/>
          <a:p>
            <a:pPr marL="0" indent="0" algn="ctr">
              <a:buNone/>
            </a:pPr>
            <a:r>
              <a:rPr lang="en-US" sz="3000" b="1" dirty="0">
                <a:solidFill>
                  <a:srgbClr val="02C39A"/>
                </a:solidFill>
              </a:rPr>
              <a:t>47.9%</a:t>
            </a:r>
            <a:endParaRPr lang="en-US" sz="3000" dirty="0"/>
          </a:p>
        </p:txBody>
      </p:sp>
      <p:sp>
        <p:nvSpPr>
          <p:cNvPr id="18" name="Text 16"/>
          <p:cNvSpPr/>
          <p:nvPr/>
        </p:nvSpPr>
        <p:spPr>
          <a:xfrm>
            <a:off x="4709160" y="1536192"/>
            <a:ext cx="2057400" cy="493776"/>
          </a:xfrm>
          <a:prstGeom prst="rect">
            <a:avLst/>
          </a:prstGeom>
          <a:noFill/>
          <a:ln/>
        </p:spPr>
        <p:txBody>
          <a:bodyPr wrap="square" lIns="0" tIns="0" rIns="0" bIns="0" rtlCol="0" anchor="ctr"/>
          <a:lstStyle/>
          <a:p>
            <a:pPr marL="0" indent="0" algn="ctr">
              <a:buNone/>
            </a:pPr>
            <a:r>
              <a:rPr lang="en-US" sz="800" dirty="0">
                <a:solidFill>
                  <a:srgbClr val="9ECDD6"/>
                </a:solidFill>
              </a:rPr>
              <a:t>CAGR of global digital</a:t>
            </a:r>
            <a:endParaRPr lang="en-US" sz="800" dirty="0"/>
          </a:p>
          <a:p>
            <a:pPr marL="0" indent="0" algn="ctr">
              <a:buNone/>
            </a:pPr>
            <a:r>
              <a:rPr lang="en-US" sz="800" dirty="0">
                <a:solidFill>
                  <a:srgbClr val="9ECDD6"/>
                </a:solidFill>
              </a:rPr>
              <a:t>twin market 2025–2030</a:t>
            </a:r>
            <a:endParaRPr lang="en-US" sz="800" dirty="0"/>
          </a:p>
        </p:txBody>
      </p:sp>
      <p:sp>
        <p:nvSpPr>
          <p:cNvPr id="19" name="Shape 17"/>
          <p:cNvSpPr/>
          <p:nvPr/>
        </p:nvSpPr>
        <p:spPr>
          <a:xfrm>
            <a:off x="6949440" y="868680"/>
            <a:ext cx="2057400" cy="1188720"/>
          </a:xfrm>
          <a:prstGeom prst="rect">
            <a:avLst/>
          </a:prstGeom>
          <a:solidFill>
            <a:srgbClr val="0B1F3A"/>
          </a:solidFill>
          <a:ln w="12700">
            <a:solidFill>
              <a:srgbClr val="0B1F3A"/>
            </a:solidFill>
            <a:prstDash val="solid"/>
          </a:ln>
          <a:effectLst>
            <a:outerShdw blurRad="101600" dist="38100" dir="8100000" algn="bl" rotWithShape="0">
              <a:srgbClr val="000000">
                <a:alpha val="15000"/>
              </a:srgbClr>
            </a:outerShdw>
          </a:effectLst>
        </p:spPr>
        <p:txBody>
          <a:bodyPr/>
          <a:lstStyle/>
          <a:p>
            <a:endParaRPr lang="en-US"/>
          </a:p>
        </p:txBody>
      </p:sp>
      <p:sp>
        <p:nvSpPr>
          <p:cNvPr id="20" name="Text 18"/>
          <p:cNvSpPr/>
          <p:nvPr/>
        </p:nvSpPr>
        <p:spPr>
          <a:xfrm>
            <a:off x="6949440" y="896112"/>
            <a:ext cx="2057400" cy="658368"/>
          </a:xfrm>
          <a:prstGeom prst="rect">
            <a:avLst/>
          </a:prstGeom>
          <a:noFill/>
          <a:ln/>
        </p:spPr>
        <p:txBody>
          <a:bodyPr wrap="square" lIns="0" tIns="0" rIns="0" bIns="0" rtlCol="0" anchor="ctr"/>
          <a:lstStyle/>
          <a:p>
            <a:pPr marL="0" indent="0" algn="ctr">
              <a:buNone/>
            </a:pPr>
            <a:r>
              <a:rPr lang="en-US" sz="3000" b="1" dirty="0">
                <a:solidFill>
                  <a:srgbClr val="02C39A"/>
                </a:solidFill>
              </a:rPr>
              <a:t>20%+</a:t>
            </a:r>
            <a:endParaRPr lang="en-US" sz="3000" dirty="0"/>
          </a:p>
        </p:txBody>
      </p:sp>
      <p:sp>
        <p:nvSpPr>
          <p:cNvPr id="21" name="Text 19"/>
          <p:cNvSpPr/>
          <p:nvPr/>
        </p:nvSpPr>
        <p:spPr>
          <a:xfrm>
            <a:off x="6949440" y="1536192"/>
            <a:ext cx="2057400" cy="493776"/>
          </a:xfrm>
          <a:prstGeom prst="rect">
            <a:avLst/>
          </a:prstGeom>
          <a:noFill/>
          <a:ln/>
        </p:spPr>
        <p:txBody>
          <a:bodyPr wrap="square" lIns="0" tIns="0" rIns="0" bIns="0" rtlCol="0" anchor="ctr"/>
          <a:lstStyle/>
          <a:p>
            <a:pPr marL="0" indent="0" algn="ctr">
              <a:buNone/>
            </a:pPr>
            <a:r>
              <a:rPr lang="en-US" sz="800" dirty="0">
                <a:solidFill>
                  <a:srgbClr val="9ECDD6"/>
                </a:solidFill>
              </a:rPr>
              <a:t>Efficiency gain from</a:t>
            </a:r>
            <a:endParaRPr lang="en-US" sz="800" dirty="0"/>
          </a:p>
          <a:p>
            <a:pPr marL="0" indent="0" algn="ctr">
              <a:buNone/>
            </a:pPr>
            <a:r>
              <a:rPr lang="en-US" sz="800" dirty="0">
                <a:solidFill>
                  <a:srgbClr val="9ECDD6"/>
                </a:solidFill>
              </a:rPr>
              <a:t>DT-enabled manufacturing</a:t>
            </a:r>
            <a:endParaRPr lang="en-US" sz="800" dirty="0"/>
          </a:p>
        </p:txBody>
      </p:sp>
      <p:sp>
        <p:nvSpPr>
          <p:cNvPr id="22" name="Shape 20"/>
          <p:cNvSpPr/>
          <p:nvPr/>
        </p:nvSpPr>
        <p:spPr>
          <a:xfrm>
            <a:off x="228600" y="2176272"/>
            <a:ext cx="8686800" cy="36576"/>
          </a:xfrm>
          <a:prstGeom prst="rect">
            <a:avLst/>
          </a:prstGeom>
          <a:solidFill>
            <a:srgbClr val="028090"/>
          </a:solidFill>
          <a:ln w="12700">
            <a:solidFill>
              <a:srgbClr val="028090"/>
            </a:solidFill>
            <a:prstDash val="solid"/>
          </a:ln>
        </p:spPr>
        <p:txBody>
          <a:bodyPr/>
          <a:lstStyle/>
          <a:p>
            <a:endParaRPr lang="en-US"/>
          </a:p>
        </p:txBody>
      </p:sp>
      <p:sp>
        <p:nvSpPr>
          <p:cNvPr id="23" name="Text 21"/>
          <p:cNvSpPr/>
          <p:nvPr/>
        </p:nvSpPr>
        <p:spPr>
          <a:xfrm>
            <a:off x="228600" y="2249424"/>
            <a:ext cx="8686800" cy="256032"/>
          </a:xfrm>
          <a:prstGeom prst="rect">
            <a:avLst/>
          </a:prstGeom>
          <a:noFill/>
          <a:ln/>
        </p:spPr>
        <p:txBody>
          <a:bodyPr wrap="square" lIns="0" tIns="0" rIns="0" bIns="0" rtlCol="0" anchor="ctr"/>
          <a:lstStyle/>
          <a:p>
            <a:pPr marL="0" indent="0" algn="l">
              <a:buNone/>
            </a:pPr>
            <a:r>
              <a:rPr lang="en-US" sz="1000" b="1" dirty="0">
                <a:solidFill>
                  <a:srgbClr val="0B1F3A"/>
                </a:solidFill>
              </a:rPr>
              <a:t> Learnings from the Research</a:t>
            </a:r>
            <a:endParaRPr lang="en-US" sz="1000" dirty="0"/>
          </a:p>
        </p:txBody>
      </p:sp>
      <p:sp>
        <p:nvSpPr>
          <p:cNvPr id="24" name="Text 22"/>
          <p:cNvSpPr/>
          <p:nvPr/>
        </p:nvSpPr>
        <p:spPr>
          <a:xfrm>
            <a:off x="228600" y="2523744"/>
            <a:ext cx="8686800" cy="1005840"/>
          </a:xfrm>
          <a:prstGeom prst="rect">
            <a:avLst/>
          </a:prstGeom>
          <a:noFill/>
          <a:ln/>
        </p:spPr>
        <p:txBody>
          <a:bodyPr wrap="square" lIns="0" tIns="0" rIns="0" bIns="0" rtlCol="0" anchor="t"/>
          <a:lstStyle/>
          <a:p>
            <a:pPr marL="0" indent="0" algn="l">
              <a:lnSpc>
                <a:spcPct val="130000"/>
              </a:lnSpc>
              <a:buNone/>
            </a:pPr>
            <a:r>
              <a:rPr lang="en-US" sz="850" dirty="0">
                <a:solidFill>
                  <a:srgbClr val="1E293B"/>
                </a:solidFill>
              </a:rPr>
              <a:t>The research confirms that Nexline Manufacturing's operational challenges reactive maintenance, fragmented monitoring, energy inefficiency, and lack of real-time visibility are not unique. They are systemic problems affecting the broader mid-sized manufacturing sector and are well-documented in peer-reviewed literature and industry reports. The convergence of IoT sensors, digital twin platforms, and AI-driven predictive analytics has produced measurable results in analogous settings: McKinsey documents 18–25% reductions in maintenance costs and up to 50% cuts in unplanned downtime. Market data from MarketsandMarkets projects the global digital twin market to reach $149.81 billion by 2030, confirming that the technology is no longer experimental  it is rapidly becoming a competitive baseline. For a precision manufacturer like Nexline serving aerospace and automotive clients, falling behind this curve carries real client satisfaction and contract risk.</a:t>
            </a:r>
            <a:endParaRPr lang="en-US" sz="850" dirty="0"/>
          </a:p>
        </p:txBody>
      </p:sp>
      <p:sp>
        <p:nvSpPr>
          <p:cNvPr id="25" name="Text 23"/>
          <p:cNvSpPr/>
          <p:nvPr/>
        </p:nvSpPr>
        <p:spPr>
          <a:xfrm>
            <a:off x="228600" y="3566160"/>
            <a:ext cx="8686800" cy="256032"/>
          </a:xfrm>
          <a:prstGeom prst="rect">
            <a:avLst/>
          </a:prstGeom>
          <a:noFill/>
          <a:ln/>
        </p:spPr>
        <p:txBody>
          <a:bodyPr wrap="square" lIns="0" tIns="0" rIns="0" bIns="0" rtlCol="0" anchor="ctr"/>
          <a:lstStyle/>
          <a:p>
            <a:pPr marL="0" indent="0" algn="l">
              <a:buNone/>
            </a:pPr>
            <a:r>
              <a:rPr lang="en-US" sz="1000" b="1" dirty="0">
                <a:solidFill>
                  <a:srgbClr val="0B1F3A"/>
                </a:solidFill>
              </a:rPr>
              <a:t>How the Research Deepens my Understanding</a:t>
            </a:r>
            <a:endParaRPr lang="en-US" sz="1000" dirty="0"/>
          </a:p>
        </p:txBody>
      </p:sp>
      <p:sp>
        <p:nvSpPr>
          <p:cNvPr id="26" name="Text 24"/>
          <p:cNvSpPr/>
          <p:nvPr/>
        </p:nvSpPr>
        <p:spPr>
          <a:xfrm>
            <a:off x="228600" y="3840480"/>
            <a:ext cx="8686800" cy="1005840"/>
          </a:xfrm>
          <a:prstGeom prst="rect">
            <a:avLst/>
          </a:prstGeom>
          <a:noFill/>
          <a:ln/>
        </p:spPr>
        <p:txBody>
          <a:bodyPr wrap="square" lIns="0" tIns="0" rIns="0" bIns="0" rtlCol="0" anchor="t"/>
          <a:lstStyle/>
          <a:p>
            <a:pPr marL="0" indent="0" algn="l">
              <a:lnSpc>
                <a:spcPct val="130000"/>
              </a:lnSpc>
              <a:buNone/>
            </a:pPr>
            <a:r>
              <a:rPr lang="en-US" sz="850" dirty="0">
                <a:solidFill>
                  <a:srgbClr val="1E293B"/>
                </a:solidFill>
              </a:rPr>
              <a:t>The research deepens my understanding of the problem in two important ways. First, it clarifies that data quality and legacy OT integration  not sensor deployment  are the most common failure points in digital twin projects. Deloitte (2024) finds that successful programs allocate 25% of their budget to data cleansing and API integration layers. This means Nexline's data engineering role must be scoped with this risk at the forefront, not treated as secondary to dashboard design. Second, the literature on cybersecurity (arXiv 2024) highlights that connecting Nexline's physical production lines to a virtual digital twin over an IIoT network significantly increases the attack surface  adversarial manipulation of predictive ML models being the most novel and underappreciated threat. This finding directly shapes our governance policy deliverable and TOGAF architecture decisions, ensuring security is embedded from Phase A of the ADM cycle rather than added as a post-deployment afterthought.</a:t>
            </a:r>
            <a:endParaRPr lang="en-US" sz="8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31</TotalTime>
  <Words>2428</Words>
  <Application>Microsoft Office PowerPoint</Application>
  <PresentationFormat>On-screen Show (16:9)</PresentationFormat>
  <Paragraphs>225</Paragraphs>
  <Slides>6</Slides>
  <Notes>6</Notes>
  <HiddenSlides>0</HiddenSlides>
  <MMClips>0</MMClips>
  <ScaleCrop>false</ScaleCrop>
  <HeadingPairs>
    <vt:vector size="6" baseType="variant">
      <vt:variant>
        <vt:lpstr>Fonts Used</vt:lpstr>
      </vt:variant>
      <vt:variant>
        <vt:i4>1</vt:i4>
      </vt:variant>
      <vt:variant>
        <vt:lpstr>Theme</vt:lpstr>
      </vt:variant>
      <vt:variant>
        <vt:i4>1</vt:i4>
      </vt:variant>
      <vt:variant>
        <vt:lpstr>Slide Titles</vt:lpstr>
      </vt:variant>
      <vt:variant>
        <vt:i4>6</vt:i4>
      </vt:variant>
    </vt:vector>
  </HeadingPairs>
  <TitlesOfParts>
    <vt:vector size="8" baseType="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Research Report – Digital Twin for Smart Manufacturing</dc:title>
  <dc:subject>PptxGenJS Presentation</dc:subject>
  <dc:creator>Nexline Consulting Team</dc:creator>
  <cp:lastModifiedBy>Jagadeeshwari Mandapalli</cp:lastModifiedBy>
  <cp:revision>3</cp:revision>
  <dcterms:created xsi:type="dcterms:W3CDTF">2026-06-07T01:54:51Z</dcterms:created>
  <dcterms:modified xsi:type="dcterms:W3CDTF">2026-06-07T21:09:23Z</dcterms:modified>
</cp:coreProperties>
</file>